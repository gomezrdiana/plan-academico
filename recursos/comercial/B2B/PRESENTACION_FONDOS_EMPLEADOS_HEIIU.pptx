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2601667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BC900"/>
                </a:solidFill>
                <a:latin typeface="Segoe UI"/>
              </a:rPr>
              <a:t>PROGRAMA DE INGLÉS PARA FONDOS DE EMPLEADOS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155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onstantia"/>
              </a:rPr>
              <a:t>Las otras academias le prometen inglés. </a:t>
            </a:r>
            <a:r>
              <a:rPr sz="4000" b="1" i="1">
                <a:solidFill>
                  <a:srgbClr val="FBC900"/>
                </a:solidFill>
                <a:latin typeface="Constantia"/>
              </a:rPr>
              <a:t>Nosotros le devolvemos un mejor afiliado.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8E7"/>
                </a:solidFill>
                <a:latin typeface="Segoe UI"/>
              </a:rPr>
              <a:t>Becas con el nombre de su fondo para sus afiliados y sus hijos, sin costo para el fondo. Con garantía de aprendizaje por escrito: si el estudiante cumple su parte y no avanza, le devolvemos el 100% del nivel.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73152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Presentación para: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________________________________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Bucaramanga · octubre de 2026</a:t>
            </a:r>
          </a:p>
        </p:txBody>
      </p:sp>
      <p:pic>
        <p:nvPicPr>
          <p:cNvPr id="9" name="Picture 8" descr="logo_heiiu_sobre_naran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5715000"/>
            <a:ext cx="1788646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 · SOMOS HEIIU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E54C09"/>
                </a:solidFill>
                <a:latin typeface="Constantia"/>
              </a:rPr>
              <a:t>Una academia presencial de Bucaramanga que responde por el resultado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5669280" cy="4206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Desde 2012.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Heiiu English Academy es la marca de Global Teacher S.A.S., con licencia de la Secretaría de Educación (educación para el trabajo y el desarrollo humano) y sede propia en Sotomayor, Carrera 27 # 48-49.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Certificada.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Certificación de calidad ISO 9001 e ICONTEC.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Un solo programa, completo.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De A1 a B2 en 575 horas presenciales certificadas, en grupos de máximo 16 personas. B2 es el nivel que piden las vacantes, las universidades y los programas en el exterior.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Nuestro logro: la garantía.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Es la que queda por escrito en el contrato de cada estudiante: si cumple su parte y no avanza, le devolvemos el 100% del nivel. Pregunte en cualquier academia quién la firma.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Convenios vigentes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con entidades y empresas de la región, con becas a nombre de cada una.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828800"/>
            <a:ext cx="52120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2" y="1938528"/>
            <a:ext cx="48828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HABLAS DESDE EL PRIMER DÍA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2331720"/>
            <a:ext cx="4882896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Segoe UI"/>
              </a:rPr>
              <a:t>Cada clase tiene una simulación real (una llamada, una reunión, un cliente, una entrevista) con un profesor que corrige ahí mismo. Celular guardado.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3273552"/>
            <a:ext cx="52120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3383280"/>
            <a:ext cx="48828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AQUÍ NADIE ENTRENA SOLO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776472"/>
            <a:ext cx="4882896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Segoe UI"/>
              </a:rPr>
              <a:t>Video corto en inglés todos los días desde la casa, devuelto con una mejora. Si falta y no avisa, lo llamamos ese mismo día. Cada clase registra la hora de llegada.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718304"/>
            <a:ext cx="52120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4828032"/>
            <a:ext cx="48828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SE NOTA, Y SE PUEDE MOSTRAR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5221224"/>
            <a:ext cx="4882896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Segoe UI"/>
              </a:rPr>
              <a:t>Prueba de entrada y de salida, evaluador externo al cierre de cada nivel, y el video del primer día junto al del último. Lo que avanza queda por escrito, no en una sensación.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Vender inglés es fácil. Lo difícil es que la gente aprenda. En Heiiu queremos la parte difícil: que venga, que se suelte a hablar y que no se rinda.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3 · OFERTA EDUCATIVA · PLAN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E54C09"/>
                </a:solidFill>
                <a:latin typeface="Constantia"/>
              </a:rPr>
              <a:t>Programa completo de inglés, de A1 a B2: 575 horas presenciales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938528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HORARIOS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31720"/>
            <a:ext cx="3282696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Mañana: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lunes a viernes, 8:00 a 12:00.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Noche: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lunes a viernes, 6:30 a 8:30 p. m.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Sábados: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8:00 a 12:00 (taller).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Segoe UI"/>
              </a:rPr>
              <a:t>Con 8 o más afiliados en el mismo grupo, el horario lo define el fondo.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82880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938528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INTENSIDAD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31720"/>
            <a:ext cx="3282696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Súper intensivo: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20 horas a la semana, programa completo en unos 7 meses.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Intensivo: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10 horas a la semana, en unos 14 meses.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Más la práctica diaria: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un video corto en inglés desde la casa, todos los días, devuelto con una mejora.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7576" y="182880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938528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DOCENTES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2331720"/>
            <a:ext cx="3282696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Profesores bilingües colombianos,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un profesor por grupo de máximo 16.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Trabajan como coach: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dirigen la simulación, corrigen en el momento y revisan el video de cada día.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Coordinación académica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sigue asistencia, tareas y evaluaciones.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95928"/>
            <a:ext cx="3611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105656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EVALUACIÓN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498848"/>
            <a:ext cx="3282696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Prueba de entrada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el primer día.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Evaluaciones durante el nivel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y evaluación final con evaluador externo al cierre de cada nivel.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Reporte al fondo: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asistencia y cumplimiento de tareas de cada afiliado becado. Nunca notas: esas son del estudiante.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0248" y="3995928"/>
            <a:ext cx="3611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4105656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CERTIFICACIÓN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498848"/>
            <a:ext cx="3282696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Certificado Heiiu por cada nivel terminado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(A1, A2, B1, B2) y por el programa completo, según los estándares de la Secretaría de Educación.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Certificado de beca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a nombre del fondo para cada becado, entregado en el fondo o en la sede.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7576" y="3995928"/>
            <a:ext cx="3611880" cy="214884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4105656"/>
            <a:ext cx="3246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BC900"/>
                </a:solidFill>
                <a:latin typeface="Segoe UI"/>
              </a:rPr>
              <a:t>LA GARANTÍA, TAL COMO QUEDA EN EL CONTRATO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0456" y="4498848"/>
            <a:ext cx="324612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Si el estudiante cumple (asistencia del 80%, 90% de las tareas con video diario, todas las evaluaciones) y no avanza, </a:t>
            </a:r>
            <a:r>
              <a:rPr sz="1250" b="1" i="0">
                <a:solidFill>
                  <a:srgbClr val="FBC900"/>
                </a:solidFill>
                <a:latin typeface="Segoe UI"/>
              </a:rPr>
              <a:t>le devolvemos el 100% del nivel.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1">
                <a:solidFill>
                  <a:srgbClr val="FFF8E7"/>
                </a:solidFill>
                <a:latin typeface="Segoe UI"/>
              </a:rPr>
              <a:t>No prometemos que sea fácil ni rápido. Prometemos que funciona si hace su parte, y lo firmamos.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Y a cada estudiante lo empujamos a pensar una idea de negocio propia y a contarla en inglés.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3 · OFERTA EDUCATIVA · VALOR ECONÓMICO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E54C09"/>
                </a:solidFill>
                <a:latin typeface="Constantia"/>
              </a:rPr>
              <a:t>Lo que paga el afiliado con carta del fondo: beca del Fondo de Becas Heiiu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5760720" cy="530352"/>
          </a:xfrm>
          <a:prstGeom prst="rect">
            <a:avLst/>
          </a:prstGeom>
          <a:solidFill>
            <a:srgbClr val="E54C09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557784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Programa completo A1 a B2 (575 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2194560" cy="530352"/>
          </a:xfrm>
          <a:prstGeom prst="rect">
            <a:avLst/>
          </a:prstGeom>
          <a:solidFill>
            <a:srgbClr val="E54C09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28800"/>
            <a:ext cx="201168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Valor de lista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1828800"/>
            <a:ext cx="3200400" cy="530352"/>
          </a:xfrm>
          <a:prstGeom prst="rect">
            <a:avLst/>
          </a:prstGeom>
          <a:solidFill>
            <a:srgbClr val="E54C09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828800"/>
            <a:ext cx="301752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Con carta del fondo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59152"/>
            <a:ext cx="5760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359152"/>
            <a:ext cx="557784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De contado (transferencia, tarjeta, cesantías o crédito del fondo o de una cooperativa)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359152"/>
            <a:ext cx="21945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359152"/>
            <a:ext cx="201168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$8.696.000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359152"/>
            <a:ext cx="3200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359152"/>
            <a:ext cx="301752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E54C09"/>
                </a:solidFill>
                <a:latin typeface="Segoe UI"/>
              </a:rPr>
              <a:t>$4.782.800  ·  beca del 45%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89504"/>
            <a:ext cx="5760720" cy="530352"/>
          </a:xfrm>
          <a:prstGeom prst="rect">
            <a:avLst/>
          </a:prstGeom>
          <a:solidFill>
            <a:srgbClr val="FFF8E7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889504"/>
            <a:ext cx="557784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A cuotas, con crédito directo de la academia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889504"/>
            <a:ext cx="2194560" cy="530352"/>
          </a:xfrm>
          <a:prstGeom prst="rect">
            <a:avLst/>
          </a:prstGeom>
          <a:solidFill>
            <a:srgbClr val="FFF8E7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889504"/>
            <a:ext cx="201168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$8.696.000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58200" y="2889504"/>
            <a:ext cx="3200400" cy="530352"/>
          </a:xfrm>
          <a:prstGeom prst="rect">
            <a:avLst/>
          </a:prstGeom>
          <a:solidFill>
            <a:srgbClr val="FFF8E7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2889504"/>
            <a:ext cx="301752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E54C09"/>
                </a:solidFill>
                <a:latin typeface="Segoe UI"/>
              </a:rPr>
              <a:t>$5.565.440  ·  beca del 36%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419856"/>
            <a:ext cx="5760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419856"/>
            <a:ext cx="557784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Ejemplo a cuotas: inicial del 20% y 11 cuotas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419856"/>
            <a:ext cx="21945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419856"/>
            <a:ext cx="201168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419856"/>
            <a:ext cx="3200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419856"/>
            <a:ext cx="301752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E54C09"/>
                </a:solidFill>
                <a:latin typeface="Segoe UI"/>
              </a:rPr>
              <a:t>$1.113.088 hoy y 11 cuotas de $452.348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023360"/>
            <a:ext cx="111556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A5A5A"/>
                </a:solidFill>
                <a:latin typeface="Segoe UI"/>
              </a:rPr>
              <a:t>Es beca del Fondo de Becas Heiiu, no un descuento: la misma tarifa y la misma garantía para todos los que entran con carta del fondo. El crédito del fondo cuenta como pago de contado, y da la beca de contado.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1772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727448"/>
            <a:ext cx="515721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BECA CON EL NOMBRE DEL FONDO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120640"/>
            <a:ext cx="5157216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Segoe UI"/>
              </a:rPr>
              <a:t>Hasta 3 afiliados por trimestre, elegidos por el fondo, reciben el 45% aunque paguen a cuotas, más los libros del programa y prioridad de cupo. Si todos sus becados cumplen, el cupo sube a 5 el trimestre siguiente.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617720"/>
            <a:ext cx="55321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4727448"/>
            <a:ext cx="520293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SI EL FONDO PREFIERE PAGAR LOS CUPOS (PLAN EMPRESA)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6792" y="5120640"/>
            <a:ext cx="5202936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222222"/>
                </a:solidFill>
                <a:latin typeface="Segoe UI"/>
              </a:rPr>
              <a:t>$4.782.800 por cupo de 3 a 7 · $4.350.000 de 8 a 15 · $3.950.000 de 16 a 30. </a:t>
            </a:r>
            <a:r>
              <a:rPr sz="1200" b="0" i="0">
                <a:solidFill>
                  <a:srgbClr val="222222"/>
                </a:solidFill>
                <a:latin typeface="Segoe UI"/>
              </a:rPr>
              <a:t>De contado o con inicial y 3 cuotas. El fondo escoge a quién, y con 8 o más el horario es suyo.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Valores vigentes 30 días desde la presentación. Todo pago entra directamente a la academia; el fondo no recibe ni gestiona pagos.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4 · BENEFICIOS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E54C09"/>
                </a:solidFill>
                <a:latin typeface="Constantia"/>
              </a:rPr>
              <a:t>¿Qué gano yo? Lo que recibe el fondo y lo que recibe cada afiliado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5486400" cy="41148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30352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EL FONDO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548640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Un beneficio nuevo para sus afiliados, sin costo para el fondo.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El fondo postula, no paga ni cobra nada.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Becas con el nombre del fondo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y certificado a su nombre, entregado en su propio evento.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Reporte periódico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de asistencia y cumplimiento de cada becado: el fondo ve quién cumple.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Diagnóstico de nivel de inglés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para hasta 10 afiliados, sin costo.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Un afiliado que avanza se lo agradece al fondo.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Y lo que el fondo hace por su hijo, no lo olvida.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5486400" cy="41148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828800"/>
            <a:ext cx="530352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BC900"/>
                </a:solidFill>
                <a:latin typeface="Segoe UI"/>
              </a:rPr>
              <a:t>EL AFILIADO Y SU FAMILIA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31720"/>
            <a:ext cx="548640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Paga la mitad por ser afiliado: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beca del 45% sobre el programa completo, para él, su cónyuge y sus hijos desde los 12 años.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Quien certifica su inglés gana cerca de un 26% más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que quien hace el mismo trabajo sin él.¹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Garantía por escrito: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si cumple su parte y no avanza, recibe el 100% del nivel de vuelta.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No entrena solo: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un profesor que corrige ahí mismo y un coach que no lo deja rendirse.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Sale con algo que mostrar: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el video del primer día junto al del último, y una idea de negocio propia contada en inglés.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Para sus hijos que salen del colegio: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un año de inglés con disciplina abre la beca, el intercambio y la carrera que sí es. Solo 1 de cada 8 sale del colegio con un inglés que le sirva.²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¹ DNP, Archivos de Economía, Bilingüismo laboral en Colombia. ² Pruebas Saber 11 de 2025, análisis del Observatorio de Realidades Educativas de la Universidad Icesi.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5 · LLAMADO A LA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onstantia"/>
              </a:rPr>
              <a:t>Firmemos el convenio esta semana y hablemos con sus afiliados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111556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FFF8E7"/>
                </a:solidFill>
                <a:latin typeface="Segoe UI"/>
              </a:rPr>
              <a:t>El convenio no tiene costo ni obligaciones económicas para el fondo. Se firma en una hoja, dura 12 meses, y lo único que le pedimos es 20 minutos con sus afiliados para contarles el programa y el Pacto antes de que decidan.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71800"/>
            <a:ext cx="3611880" cy="210312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32461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onstantia"/>
              </a:rPr>
              <a:t>3 BECAS CON SU 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32461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Este trimestre, para los afiliados que el fondo elija. Si todos cumplen, suben a 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971800"/>
            <a:ext cx="3611880" cy="210312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3108960"/>
            <a:ext cx="32461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onstantia"/>
              </a:rPr>
              <a:t>INICIO 3 DE NOVIEMBRE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703320"/>
            <a:ext cx="32461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Grupos de máximo 16; el cupo se asigna por orden de matrícula con la inicial pagada. El grupo no para en diciembre: sigue hasta terminar el nivel, solo descansa los festivos.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2971800"/>
            <a:ext cx="3611880" cy="210312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0456" y="3108960"/>
            <a:ext cx="32461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onstantia"/>
              </a:rPr>
              <a:t>10 PRUEBAS DE NIVEL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703320"/>
            <a:ext cx="32461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Diagnóstico sin costo para hasta 10 afiliados, en su sede o en la nuestra, la semana siguiente a la firma.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03520"/>
            <a:ext cx="1115568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FBC900"/>
                </a:solidFill>
                <a:latin typeface="Segoe UI"/>
              </a:rPr>
              <a:t>Hoy: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firma del convenio y fecha de la charla con los afiliados.  </a:t>
            </a:r>
            <a:r>
              <a:rPr sz="1500" b="1" i="0">
                <a:solidFill>
                  <a:srgbClr val="FBC900"/>
                </a:solidFill>
                <a:latin typeface="Segoe UI"/>
              </a:rPr>
              <a:t>Esta semana: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diagnóstico de nivel.  </a:t>
            </a:r>
            <a:r>
              <a:rPr sz="1500" b="1" i="0">
                <a:solidFill>
                  <a:srgbClr val="FBC900"/>
                </a:solidFill>
                <a:latin typeface="Segoe UI"/>
              </a:rPr>
              <a:t>Antes del 3 de noviembre: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los primeros afiliados en su grupo.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9B8A3"/>
                </a:solidFill>
                <a:latin typeface="Segoe UI"/>
              </a:rPr>
              <a:t>Línea de alianzas: 316 768 8793 · Carrera 27 # 48-49, Sotomayor, Bucaramanga · Instagram @Heiiu_english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2113854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8308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FFF8E7"/>
                </a:solidFill>
                <a:latin typeface="Segoe UI"/>
              </a:rPr>
              <a:t>Nuestro objetivo es que su afiliado salga hablando inglés. Si no se logra, algo está mal: o él dejó de entrenar, o nosotros no estamos cumpliendo. Por eso lo firmamos.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115568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Constantia"/>
              </a:rPr>
              <a:t>¿Cuántos de sus afiliados quiere ver hablando inglés </a:t>
            </a:r>
            <a:r>
              <a:rPr sz="3800" b="1" i="1">
                <a:solidFill>
                  <a:srgbClr val="FBC900"/>
                </a:solidFill>
                <a:latin typeface="Constantia"/>
              </a:rPr>
              <a:t>el próximo año?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111556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 i="0">
                <a:solidFill>
                  <a:srgbClr val="FFF8E7"/>
                </a:solidFill>
                <a:latin typeface="Segoe UI"/>
              </a:rPr>
              <a:t>Dígame cuántos, y hoy mismo definimos a quiénes.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82296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Heiiu English Academy · Global Teacher S.A.S.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Línea de alianzas 316 768 8793 · Carrera 27 # 48-49, Sotomayor, Bucaramanga · @Heiiu_english</a:t>
            </a:r>
          </a:p>
        </p:txBody>
      </p:sp>
      <p:pic>
        <p:nvPicPr>
          <p:cNvPr id="9" name="Picture 8" descr="logo_heiiu_sobre_naran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5715000"/>
            <a:ext cx="1788646" cy="1005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