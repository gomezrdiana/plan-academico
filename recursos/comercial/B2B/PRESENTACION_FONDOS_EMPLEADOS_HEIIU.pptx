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EMPEZAR (una pregunta): "¿Un convenio así lo firma usted o lo lleva a junta? ¿Cuándo se reúne la junta?" Con esa respuesta sabes si hoy sales con firma o con fecha de junta.</a:t>
            </a:r>
          </a:p>
          <a:p>
            <a:r>
              <a:t>QUÉ DECIR (20 segundos): "Vengo a proponerle un beneficio nuevo para sus afiliados que al fondo no le cuesta nada: beca del 45% en el programa de inglés de Heiiu, para ellos y sus familias, con el nombre del fondo. Le pido 10 minutos y salgo con una sola cosa: una fecha."</a:t>
            </a:r>
          </a:p>
          <a:p>
            <a:r>
              <a:t>NO leer la diapositiva. NO entregar la hoja todavía.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DECIR (máximo 20 segundos): "Somos una academia de Bucaramanga con licencia de la Secretaría de Educación desde 2012 y certificación ISO 9001 e ICONTEC. Un solo programa, de A1 a B2, presencial. Y lo que ninguna otra firma: la garantía por escrito." El detalle está en la hoja que se deja al final. Hablar de la academia más de 2 minutos baja el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DECIR: "Programa completo, presencial, en la mañana o en la noche; con 8 afiliados o más, el horario lo pone el fondo. Profesores que trabajan como coach y evaluador externo al cierre de cada nivel. Y lo firmamos: si cumple y no avanza, devolvemos el nivel."</a:t>
            </a:r>
          </a:p>
          <a:p>
            <a:r>
              <a:t>Horarios exactos: mañana 8:00 a 12:00, noche 6:30 a 8:30 p. m., sábados 8:00 a 12:00. Todo está en la hoja; no leer las seis casillas.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DECIR: "El afiliado paga $4.782.800 por el programa que vale $8.696.000. Si el fondo le presta o paga con cesantías, es contado y recibe la beca mayor. Y tres afiliados por trimestre, los que el fondo elija, reciben la beca con el nombre del fondo aunque paguen a cuotas."</a:t>
            </a:r>
          </a:p>
          <a:p>
            <a:r>
              <a:t>A cuotas con la academia: $5.565.440 (36%); ejemplo $1.113.088 hoy y 11 cuotas de $452.348. Plan Empresa si el fondo paga los cupos: $4.782.800 por cupo de 3 a 7, $4.350.000 de 8 a 15, $3.950.000 de 16 a 30. Todo en la hoja. "Beca", nunca "descuento".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DECIR: "Para el fondo es un beneficio más en su portafolio, con su nombre y sin tocar presupuesto: usted postula con una carta y nosotros hacemos el resto. Para el afiliado es pagar la mitad, con garantía, y que lo acompañen hasta que hable." UN dato si hace falta: quien certifica su inglés gana cerca de un 26% más (DNP). Diagnóstico de nivel para 10 afiliados sin costo la semana siguiente a la firma.</a:t>
            </a:r>
          </a:p>
          <a:p>
            <a:r>
              <a:t>Si pregunta "¿y si nadie se inscribe?": "No le cuesta nada al fondo. Lo único que le pido es la charla de 20 minutos."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DECIR: "Le hablo hoy y no el mes entrante por una razón: el grupo arranca el martes 3 de noviembre y no para en diciembre; solo descansa los festivos. Si firmamos esta semana, sus afiliados alcanzan a entrar. El convenio no tiene costo ni obligaciones, se firma en una hoja, dura 12 meses y se termina con aviso de 30 días. Lo único que le pido es 20 minutos con sus afiliados."</a:t>
            </a:r>
          </a:p>
          <a:p>
            <a:r>
              <a:t>Decir solo cupos reales (3 becas con nombre). Nunca "últimos cupos" si no es cierto.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DECIR: "¿Cuántos de sus afiliados quiere ver hablando inglés el próximo año? Dígame cuántos y hoy mismo definimos a quiénes. Le pido una sola cosa: que firmemos hoy este convenio de una página y me dé fecha y hora para la charla. ¿La hacemos el [día] a las [hora] o el [día] a las [hora]?" Y SILENCIO. Que responda él.</a:t>
            </a:r>
          </a:p>
          <a:p>
            <a:r>
              <a:t>Si debe ir a junta: "¿Cuándo se reúne? Le dejo el convenio y la hoja listos para esa fecha, y lo llamo al día siguiente."</a:t>
            </a:r>
          </a:p>
          <a:p>
            <a:r>
              <a:t>AL FINAL, no antes: entregar la hoja de detalle impresa y el convenio en dos copias. Lo que cuenta para el tablero: convenio firmado con fecha de charla, o fecha de junta anotada.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60000" cy="6858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1732970" cy="914400"/>
          </a:xfrm>
          <a:prstGeom prst="roundRect">
            <a:avLst>
              <a:gd name="adj" fmla="val 5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heiiu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6072"/>
            <a:ext cx="1365875" cy="768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148840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3B2A20"/>
                </a:solidFill>
                <a:latin typeface="Lato"/>
              </a:rPr>
              <a:t>PROGRAMA DE INGLÉS PARA FONDOS DE EMPLEADOS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7955279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 i="0">
                <a:solidFill>
                  <a:srgbClr val="3B2A20"/>
                </a:solidFill>
                <a:latin typeface="Lato Black"/>
              </a:rPr>
              <a:t>Beca del 45% en inglés para sus afiliados y sus familias, </a:t>
            </a:r>
            <a:r>
              <a:rPr sz="4200" b="1" i="0">
                <a:solidFill>
                  <a:srgbClr val="FFFFFF"/>
                </a:solidFill>
                <a:latin typeface="Lato Black"/>
              </a:rPr>
              <a:t>sin costo para el fondo.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7680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>
                <a:solidFill>
                  <a:srgbClr val="6B4A33"/>
                </a:solidFill>
                <a:latin typeface="Lato"/>
              </a:rPr>
              <a:t>Presencial, en Bucaramanga. Con garantía de aprendizaje por escrito.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97880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4A33"/>
                </a:solidFill>
                <a:latin typeface="Lato"/>
              </a:rPr>
              <a:t>Presentación para  </a:t>
            </a:r>
            <a:r>
              <a:rPr sz="1300" b="0" i="0">
                <a:solidFill>
                  <a:srgbClr val="6B4A33"/>
                </a:solidFill>
                <a:latin typeface="Lato"/>
              </a:rPr>
              <a:t>_______________________________</a:t>
            </a:r>
            <a:r>
              <a:rPr sz="1300" b="0" i="0">
                <a:solidFill>
                  <a:srgbClr val="6B4A33"/>
                </a:solidFill>
                <a:latin typeface="Lato"/>
              </a:rPr>
              <a:t>     Bucaramanga, octubre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0" b="0" i="0">
                <a:solidFill>
                  <a:srgbClr val="E54C09"/>
                </a:solidFill>
                <a:latin typeface="Oswald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46120"/>
            <a:ext cx="28346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3B2A20"/>
                </a:solidFill>
                <a:latin typeface="Lato"/>
              </a:rPr>
              <a:t>de beca, a nombre del fondo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343400"/>
            <a:ext cx="28346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0" i="0">
                <a:solidFill>
                  <a:srgbClr val="E54C09"/>
                </a:solidFill>
                <a:latin typeface="Oswald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5303520"/>
            <a:ext cx="28346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3B2A20"/>
                </a:solidFill>
                <a:latin typeface="Lato"/>
              </a:rPr>
              <a:t>para el fondo. Una hoja, 12 meses.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14470" cy="566928"/>
          </a:xfrm>
          <a:prstGeom prst="roundRect">
            <a:avLst>
              <a:gd name="adj" fmla="val 5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heiiu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747979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384048"/>
            <a:ext cx="22860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A828F"/>
                </a:solidFill>
                <a:latin typeface="Oswald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E54C09"/>
                </a:solidFill>
                <a:latin typeface="Lato"/>
              </a:rPr>
              <a:t>SOMOS HEIIU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3B2A20"/>
                </a:solidFill>
                <a:latin typeface="Lato Black"/>
              </a:rPr>
              <a:t>Una academia de Bucaramanga que responde por el resultado.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A828F"/>
                </a:solidFill>
                <a:latin typeface="Lato"/>
              </a:rPr>
              <a:t>Heiiu English Academy · Línea de alianzas 316 768 8793 · Carrera 27 # 48-49, Sotomayor, Bucaramanga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70332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 i="0">
                <a:solidFill>
                  <a:srgbClr val="3B2A20"/>
                </a:solidFill>
                <a:latin typeface="Oswald"/>
              </a:rPr>
              <a:t>2012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2148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Lato"/>
              </a:rPr>
              <a:t>Licencia de la Secretaría de Educación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42900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370332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88620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 i="0">
                <a:solidFill>
                  <a:srgbClr val="3B2A20"/>
                </a:solidFill>
                <a:latin typeface="Oswald"/>
              </a:rPr>
              <a:t>ISO 9001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2148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Lato"/>
              </a:rPr>
              <a:t>Certificación ISO e ICONTEC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70332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8620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 i="0">
                <a:solidFill>
                  <a:srgbClr val="3B2A20"/>
                </a:solidFill>
                <a:latin typeface="Oswald"/>
              </a:rPr>
              <a:t>575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2148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Lato"/>
              </a:rPr>
              <a:t>De A1 a B2, presencial y certificado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42900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370332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886200"/>
            <a:ext cx="22860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 i="0">
                <a:solidFill>
                  <a:srgbClr val="3B2A20"/>
                </a:solidFill>
                <a:latin typeface="Oswal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892040"/>
            <a:ext cx="2148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Lato"/>
              </a:rPr>
              <a:t>Garantía por escrito: devolvemos el nivel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14470" cy="566928"/>
          </a:xfrm>
          <a:prstGeom prst="roundRect">
            <a:avLst>
              <a:gd name="adj" fmla="val 5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heiiu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747979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384048"/>
            <a:ext cx="22860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A828F"/>
                </a:solidFill>
                <a:latin typeface="Oswald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E54C09"/>
                </a:solidFill>
                <a:latin typeface="Lato"/>
              </a:rPr>
              <a:t>OFERTA EDUCATIVA · PLAN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3B2A20"/>
                </a:solidFill>
                <a:latin typeface="Lato Black"/>
              </a:rPr>
              <a:t>Programa completo de A1 a B2: 575 horas presenciales.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A828F"/>
                </a:solidFill>
                <a:latin typeface="Lato"/>
              </a:rPr>
              <a:t>Heiiu English Academy · Línea de alianzas 316 768 8793 · Carrera 27 # 48-49, Sotomayor, Bucaramanga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93008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3B2A20"/>
                </a:solidFill>
                <a:latin typeface="Lato"/>
              </a:rPr>
              <a:t>HORARIOS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13048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Mañana, noche o sábados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338328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3493008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3B2A20"/>
                </a:solidFill>
                <a:latin typeface="Lato"/>
              </a:rPr>
              <a:t>INTENSIDAD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3813048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20 h o 10 h por semana, más un video diario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8" y="338328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8" y="3493008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3B2A20"/>
                </a:solidFill>
                <a:latin typeface="Lato"/>
              </a:rPr>
              <a:t>DOCENTES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8" y="3813048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Bilingües, trabajan como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10328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3B2A20"/>
                </a:solidFill>
                <a:latin typeface="Lato"/>
              </a:rPr>
              <a:t>EVALUACIÓN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30368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Entrada, por nivel y evaluador externo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80060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4910328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3B2A20"/>
                </a:solidFill>
                <a:latin typeface="Lato"/>
              </a:rPr>
              <a:t>CERTIFICACIÓN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5230368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Por nivel y por programa completo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8" y="4800600"/>
            <a:ext cx="457200" cy="30000"/>
          </a:xfrm>
          <a:prstGeom prst="rect">
            <a:avLst/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8" y="4910328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3B2A20"/>
                </a:solidFill>
                <a:latin typeface="Lato"/>
              </a:rPr>
              <a:t>GARANTÍA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8" y="5230368"/>
            <a:ext cx="3474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Cumple y no avanza: devolvemos el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14470" cy="566928"/>
          </a:xfrm>
          <a:prstGeom prst="roundRect">
            <a:avLst>
              <a:gd name="adj" fmla="val 5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heiiu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747979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384048"/>
            <a:ext cx="22860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A828F"/>
                </a:solidFill>
                <a:latin typeface="Oswald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E54C09"/>
                </a:solidFill>
                <a:latin typeface="Lato"/>
              </a:rPr>
              <a:t>OFERTA EDUCATIVA · VALOR ECONÓMICO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71323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3B2A20"/>
                </a:solidFill>
                <a:latin typeface="Lato Black"/>
              </a:rPr>
              <a:t>El afiliado paga la mitad por venir con carta del fondo.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A828F"/>
                </a:solidFill>
                <a:latin typeface="Lato"/>
              </a:rPr>
              <a:t>Heiiu English Academy · Línea de alianzas 316 768 8793 · Carrera 27 # 48-49, Sotomayor, Bucaramanga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713232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 i="0">
                <a:solidFill>
                  <a:srgbClr val="E54C09"/>
                </a:solidFill>
                <a:latin typeface="Lato"/>
              </a:rPr>
              <a:t>—  </a:t>
            </a:r>
            <a:r>
              <a:rPr sz="2000" b="0" i="0">
                <a:solidFill>
                  <a:srgbClr val="2B3445"/>
                </a:solidFill>
                <a:latin typeface="Lato"/>
              </a:rPr>
              <a:t>$4.782.800 de contado, en lugar de $8.696.000.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 i="0">
                <a:solidFill>
                  <a:srgbClr val="E54C09"/>
                </a:solidFill>
                <a:latin typeface="Lato"/>
              </a:rPr>
              <a:t>—  </a:t>
            </a:r>
            <a:r>
              <a:rPr sz="2000" b="0" i="0">
                <a:solidFill>
                  <a:srgbClr val="2B3445"/>
                </a:solidFill>
                <a:latin typeface="Lato"/>
              </a:rPr>
              <a:t>Crédito del fondo o cesantías cuentan como contado.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2000" b="1" i="0">
                <a:solidFill>
                  <a:srgbClr val="E54C09"/>
                </a:solidFill>
                <a:latin typeface="Lato"/>
              </a:rPr>
              <a:t>—  </a:t>
            </a:r>
            <a:r>
              <a:rPr sz="2000" b="0" i="0">
                <a:solidFill>
                  <a:srgbClr val="2B3445"/>
                </a:solidFill>
                <a:latin typeface="Lato"/>
              </a:rPr>
              <a:t>3 becas por trimestre con el nombre del fondo.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520440" cy="4800600"/>
          </a:xfrm>
          <a:prstGeom prst="roundRect">
            <a:avLst>
              <a:gd name="adj" fmla="val 6000"/>
            </a:avLst>
          </a:prstGeom>
          <a:solidFill>
            <a:srgbClr val="F3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1600200"/>
            <a:ext cx="548640" cy="30000"/>
          </a:xfrm>
          <a:prstGeom prst="rect">
            <a:avLst/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3063240" cy="21945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0" i="0">
                <a:solidFill>
                  <a:srgbClr val="3B2A20"/>
                </a:solidFill>
                <a:latin typeface="Oswald"/>
              </a:rPr>
              <a:t>$3.913.200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206240"/>
            <a:ext cx="28803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3B2A20"/>
                </a:solidFill>
                <a:latin typeface="Lato"/>
              </a:rPr>
              <a:t>menos por afiliado. Beca, no descuento: misma tarifa y misma garantía para todos.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14470" cy="566928"/>
          </a:xfrm>
          <a:prstGeom prst="roundRect">
            <a:avLst>
              <a:gd name="adj" fmla="val 5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heiiu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747979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384048"/>
            <a:ext cx="22860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7A828F"/>
                </a:solidFill>
                <a:latin typeface="Oswald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E54C09"/>
                </a:solidFill>
                <a:latin typeface="Lato"/>
              </a:rPr>
              <a:t>BENEFICIOS · ¿QUÉ GANO YO?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3B2A20"/>
                </a:solidFill>
                <a:latin typeface="Lato Black"/>
              </a:rPr>
              <a:t>El fondo gana un beneficio con su nombre. El afiliado, un inglés que le sirve.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A828F"/>
                </a:solidFill>
                <a:latin typeface="Lato"/>
              </a:rPr>
              <a:t>Heiiu English Academy · Línea de alianzas 316 768 8793 · Carrera 27 # 48-49, Sotomayor, Bucaramanga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539496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E54C09"/>
                </a:solidFill>
                <a:latin typeface="Lato"/>
              </a:rPr>
              <a:t>EL FONDO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48463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 i="0">
                <a:solidFill>
                  <a:srgbClr val="E54C09"/>
                </a:solidFill>
                <a:latin typeface="Lato"/>
              </a:rPr>
              <a:t>—  </a:t>
            </a:r>
            <a:r>
              <a:rPr sz="1800" b="0" i="0">
                <a:solidFill>
                  <a:srgbClr val="2B3445"/>
                </a:solidFill>
                <a:latin typeface="Lato"/>
              </a:rPr>
              <a:t>Sin costo ni presupuesto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 i="0">
                <a:solidFill>
                  <a:srgbClr val="E54C09"/>
                </a:solidFill>
                <a:latin typeface="Lato"/>
              </a:rPr>
              <a:t>—  </a:t>
            </a:r>
            <a:r>
              <a:rPr sz="1800" b="0" i="0">
                <a:solidFill>
                  <a:srgbClr val="2B3445"/>
                </a:solidFill>
                <a:latin typeface="Lato"/>
              </a:rPr>
              <a:t>Becas y certificados con su nombre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 i="0">
                <a:solidFill>
                  <a:srgbClr val="E54C09"/>
                </a:solidFill>
                <a:latin typeface="Lato"/>
              </a:rPr>
              <a:t>—  </a:t>
            </a:r>
            <a:r>
              <a:rPr sz="1800" b="0" i="0">
                <a:solidFill>
                  <a:srgbClr val="2B3445"/>
                </a:solidFill>
                <a:latin typeface="Lato"/>
              </a:rPr>
              <a:t>Reporte: ve quién cumple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83280"/>
            <a:ext cx="5394960" cy="2697480"/>
          </a:xfrm>
          <a:prstGeom prst="roundRect">
            <a:avLst>
              <a:gd name="adj" fmla="val 5000"/>
            </a:avLst>
          </a:prstGeom>
          <a:solidFill>
            <a:srgbClr val="F3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566160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00">
                <a:solidFill>
                  <a:srgbClr val="3B2A20"/>
                </a:solidFill>
                <a:latin typeface="Lato"/>
              </a:rPr>
              <a:t>EL AFILIADO Y SU FAMILIA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8463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Lato"/>
              </a:rPr>
              <a:t>—  </a:t>
            </a:r>
            <a:r>
              <a:rPr sz="1800" b="0" i="0">
                <a:solidFill>
                  <a:srgbClr val="3B2A20"/>
                </a:solidFill>
                <a:latin typeface="Lato"/>
              </a:rPr>
              <a:t>Paga la mitad, también cónyuge e hijos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Lato"/>
              </a:rPr>
              <a:t>—  </a:t>
            </a:r>
            <a:r>
              <a:rPr sz="1800" b="0" i="0">
                <a:solidFill>
                  <a:srgbClr val="3B2A20"/>
                </a:solidFill>
                <a:latin typeface="Lato"/>
              </a:rPr>
              <a:t>Garantía: si cumple y no avanza, 100% de vuelta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Lato"/>
              </a:rPr>
              <a:t>—  </a:t>
            </a:r>
            <a:r>
              <a:rPr sz="1800" b="0" i="0">
                <a:solidFill>
                  <a:srgbClr val="3B2A20"/>
                </a:solidFill>
                <a:latin typeface="Lato"/>
              </a:rPr>
              <a:t>Nadie entrena solo: coach y video diario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14470" cy="566928"/>
          </a:xfrm>
          <a:prstGeom prst="roundRect">
            <a:avLst>
              <a:gd name="adj" fmla="val 5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heiiu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747979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384048"/>
            <a:ext cx="22860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4A33"/>
                </a:solidFill>
                <a:latin typeface="Oswald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3B2A20"/>
                </a:solidFill>
                <a:latin typeface="Lato"/>
              </a:rPr>
              <a:t>LLAMADO A LA 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3B2A20"/>
                </a:solidFill>
                <a:latin typeface="Lato Black"/>
              </a:rPr>
              <a:t>El próximo grupo arranca el martes 3 de noviembre. Firmemos esta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4A33"/>
                </a:solidFill>
                <a:latin typeface="Lato"/>
              </a:rPr>
              <a:t>Heiiu English Academy · Línea de alianzas 316 768 8793 · Carrera 27 # 48-49, Sotomayor, Bucaramanga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3520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0" i="0">
                <a:solidFill>
                  <a:srgbClr val="E54C09"/>
                </a:solidFill>
                <a:latin typeface="Oswald"/>
              </a:rPr>
              <a:t>3 NOV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200">
                <a:solidFill>
                  <a:srgbClr val="3B2A20"/>
                </a:solidFill>
                <a:latin typeface="Lato"/>
              </a:rPr>
              <a:t>INICIO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30175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Y no para en diciembre.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383280"/>
            <a:ext cx="3520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3474720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0" i="0">
                <a:solidFill>
                  <a:srgbClr val="E54C09"/>
                </a:solidFill>
                <a:latin typeface="Oswald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43484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200">
                <a:solidFill>
                  <a:srgbClr val="3B2A20"/>
                </a:solidFill>
                <a:latin typeface="Lato"/>
              </a:rPr>
              <a:t>CUPOS POR GRUPO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4754880"/>
            <a:ext cx="30175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Por orden de matrícula.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8" y="3383280"/>
            <a:ext cx="3520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8" y="3474720"/>
            <a:ext cx="30175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0" i="0">
                <a:solidFill>
                  <a:srgbClr val="E54C09"/>
                </a:solidFill>
                <a:latin typeface="Oswa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443484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 spc="200">
                <a:solidFill>
                  <a:srgbClr val="3B2A20"/>
                </a:solidFill>
                <a:latin typeface="Lato"/>
              </a:rPr>
              <a:t>BECAS CON SU NOMBRE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754880"/>
            <a:ext cx="30175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Lato"/>
              </a:rPr>
              <a:t>Este trimestre. Suben a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07444" cy="731520"/>
          </a:xfrm>
          <a:prstGeom prst="roundRect">
            <a:avLst>
              <a:gd name="adj" fmla="val 5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heiiu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30352"/>
            <a:ext cx="1040667" cy="5852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457200"/>
            <a:ext cx="22860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4A33"/>
                </a:solidFill>
                <a:latin typeface="Oswald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7589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 spc="250">
                <a:solidFill>
                  <a:srgbClr val="3B2A20"/>
                </a:solidFill>
                <a:latin typeface="Lato"/>
              </a:rPr>
              <a:t>UN SOLO 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758952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3B2A20"/>
                </a:solidFill>
                <a:latin typeface="Lato Black"/>
              </a:rPr>
              <a:t>¿Cuántos de sus afiliados quiere ver hablando inglés </a:t>
            </a:r>
            <a:r>
              <a:rPr sz="3800" b="1" i="0">
                <a:solidFill>
                  <a:srgbClr val="FFFFFF"/>
                </a:solidFill>
                <a:latin typeface="Lato Black"/>
              </a:rPr>
              <a:t>el próximo año?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7589520" cy="1051560"/>
          </a:xfrm>
          <a:prstGeom prst="roundRect">
            <a:avLst>
              <a:gd name="adj" fmla="val 30000"/>
            </a:avLst>
          </a:prstGeom>
          <a:solidFill>
            <a:srgbClr val="E54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7223760" cy="10515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Lato"/>
              </a:rPr>
              <a:t>Firmamos hoy. ¿La charla la hacemos el </a:t>
            </a:r>
            <a:r>
              <a:rPr sz="1900" b="1" i="0">
                <a:solidFill>
                  <a:srgbClr val="FBC900"/>
                </a:solidFill>
                <a:latin typeface="Lato"/>
              </a:rPr>
              <a:t>_______</a:t>
            </a:r>
            <a:r>
              <a:rPr sz="1900" b="1" i="0">
                <a:solidFill>
                  <a:srgbClr val="FFFFFF"/>
                </a:solidFill>
                <a:latin typeface="Lato"/>
              </a:rPr>
              <a:t> a las </a:t>
            </a:r>
            <a:r>
              <a:rPr sz="1900" b="1" i="0">
                <a:solidFill>
                  <a:srgbClr val="FBC900"/>
                </a:solidFill>
                <a:latin typeface="Lato"/>
              </a:rPr>
              <a:t>_____</a:t>
            </a:r>
            <a:r>
              <a:rPr sz="1900" b="1" i="0">
                <a:solidFill>
                  <a:srgbClr val="FFFFFF"/>
                </a:solidFill>
                <a:latin typeface="Lato"/>
              </a:rPr>
              <a:t> o el </a:t>
            </a:r>
            <a:r>
              <a:rPr sz="1900" b="1" i="0">
                <a:solidFill>
                  <a:srgbClr val="FBC900"/>
                </a:solidFill>
                <a:latin typeface="Lato"/>
              </a:rPr>
              <a:t>_______</a:t>
            </a:r>
            <a:r>
              <a:rPr sz="1900" b="1" i="0">
                <a:solidFill>
                  <a:srgbClr val="FFFFFF"/>
                </a:solidFill>
                <a:latin typeface="Lato"/>
              </a:rPr>
              <a:t> a las </a:t>
            </a:r>
            <a:r>
              <a:rPr sz="1900" b="1" i="0">
                <a:solidFill>
                  <a:srgbClr val="FBC900"/>
                </a:solidFill>
                <a:latin typeface="Lato"/>
              </a:rPr>
              <a:t>_____</a:t>
            </a:r>
            <a:r>
              <a:rPr sz="1900" b="1" i="0">
                <a:solidFill>
                  <a:srgbClr val="FFFFFF"/>
                </a:solidFill>
                <a:latin typeface="Lato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75895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3B2A20"/>
                </a:solidFill>
                <a:latin typeface="Lato"/>
              </a:rPr>
              <a:t>Si va a junta: </a:t>
            </a:r>
            <a:r>
              <a:rPr sz="1600" b="0" i="0">
                <a:solidFill>
                  <a:srgbClr val="3B2A20"/>
                </a:solidFill>
                <a:latin typeface="Lato"/>
              </a:rPr>
              <a:t>¿cuándo se reúne? Le dejo el convenio listo.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6B4A33"/>
                </a:solidFill>
                <a:latin typeface="Lato"/>
              </a:rPr>
              <a:t>Una hoja · sin costo · 12 meses · se termina con aviso de 30 días.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600200"/>
            <a:ext cx="3017520" cy="4069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convenio_entidad_minia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664208"/>
            <a:ext cx="3045367" cy="39410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32520" y="576072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4A33"/>
                </a:solidFill>
                <a:latin typeface="Lato"/>
              </a:rPr>
              <a:t>El convenio: una hoja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4A33"/>
                </a:solidFill>
                <a:latin typeface="Lato"/>
              </a:rPr>
              <a:t>Heiiu English Academy · Global Teacher S.A.S. · Línea de alianzas 316 768 8793 · Carrera 27 # 48-49, Sotomayor, Bucaramanga · @Heiiu_english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