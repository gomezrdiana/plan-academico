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EMPEZAR (una pregunta): "¿Un convenio así lo firma usted o lo lleva a junta? ¿Cuándo se reúne la junta?" Con esa respuesta sabes si hoy sales con firma o con fecha de junta.</a:t>
            </a:r>
          </a:p>
          <a:p>
            <a:r>
              <a:t>QUÉ DECIR (20 segundos): "Vengo a proponerle un beneficio nuevo para sus afiliados que al fondo no le cuesta nada: beca del 45% en el programa de inglés de Heiiu, para ellos y sus familias, con el nombre del fondo. Le pido 10 minutos y salgo con una sola cosa: una fecha."</a:t>
            </a:r>
          </a:p>
          <a:p>
            <a:r>
              <a:t>NO leer la diapositiva. NO entregar la hoja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 (máximo 20 segundos, no más): "Somos una academia de Bucaramanga con licencia de la Secretaría de Educación desde 2012 y certificación ISO 9001 e ICONTEC. Un solo programa, de A1 a B2, presencial. Y lo que ninguna otra firma: la garantía por escrito." El detalle está en la hoja que se deja al final. Hablar de la academia más de 2 minutos baja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"Es un programa completo, presencial, en nuestra sede, en la mañana o en la noche; con 8 afiliados o más, el horario lo pone el fondo. Un profesor por grupo de máximo 16, y evaluador externo al cierre de cada nivel. Y lo firmamos: si cumple y no avanza, devolvemos el nivel."</a:t>
            </a:r>
          </a:p>
          <a:p>
            <a:r>
              <a:t>NO leer las seis casillas. Si pregunta por una, responde en una frase: el detalle está en la hoja.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"El afiliado paga $4.782.800 por el programa que vale $8.696.000. Si el fondo le presta o paga con cesantías, es contado y recibe la beca mayor. Y tres afiliados por trimestre, los que el fondo elija, reciben la beca con el nombre del fondo aunque paguen a cuotas."</a:t>
            </a:r>
          </a:p>
          <a:p>
            <a:r>
              <a:t>Si el fondo quiere pagar los cupos: Plan Empresa, $4.782.800 por cupo de 3 a 7, $4.350.000 de 8 a 15, $3.950.000 de 16 a 30 (está en la hoja). NO recitar la tabla. "Beca", nunca "descuento".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"Para el fondo es un beneficio más en su portafolio, con su nombre y sin tocar presupuesto: usted postula con una carta y nosotros hacemos el resto. Para el afiliado es pagar la mitad, con garantía, y que lo acompañen hasta que hable." Decir UN dato, no todos.</a:t>
            </a:r>
          </a:p>
          <a:p>
            <a:r>
              <a:t>Si pregunta "¿y si nadie se inscribe?": "No le cuesta nada al fondo. Lo único que le pido es la charla de 20 minutos."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"Le hablo hoy y no el mes entrante por una razón: el grupo arranca el martes 3 de noviembre y no para en diciembre. Si firmamos esta semana, sus afiliados alcanzan a entrar. El convenio no tiene costo ni obligaciones, se firma en una hoja, dura 12 meses y se termina con aviso de 30 días. Lo único que le pido es 20 minutos con sus afiliados."</a:t>
            </a:r>
          </a:p>
          <a:p>
            <a:r>
              <a:t>Decir solo cupos reales (grupos de 16, 3 becas con nombre). Nunca "últimos cupos" si no es cierto.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"¿Cuántos de sus afiliados quiere ver hablando inglés el próximo año? Dígame cuántos y hoy mismo definimos a quiénes. Le pido una sola cosa: que firmemos hoy este convenio de una página y me dé fecha y hora para la charla. ¿La hacemos el [día] a las [hora] o el [día] a las [hora]?" Y SILENCIO. Que responda él.</a:t>
            </a:r>
          </a:p>
          <a:p>
            <a:r>
              <a:t>Si debe ir a junta: "¿Cuándo se reúne? Le dejo el convenio y la hoja listos para esa fecha, y lo llamo al día siguiente."</a:t>
            </a:r>
          </a:p>
          <a:p>
            <a:r>
              <a:t>AL FINAL, no antes: entregar la hoja de detalle impresa y el convenio en dos copias. Lo que cuenta para el tablero: convenio firmado con fecha de charla, o fecha de junta anotada.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78240" y="0"/>
            <a:ext cx="60000" cy="6858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032552" cy="114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48840"/>
            <a:ext cx="78638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PROGRAMA DE INGLÉS PARA FONDOS DE EMPLEADOS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7955279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200" b="1" i="0">
                <a:solidFill>
                  <a:srgbClr val="F6F1E9"/>
                </a:solidFill>
                <a:latin typeface="Lato Black"/>
              </a:rPr>
              <a:t>Beca del 45% en inglés para sus afiliados y sus familias, </a:t>
            </a:r>
            <a:r>
              <a:rPr sz="4200" b="1" i="0">
                <a:solidFill>
                  <a:srgbClr val="FBC900"/>
                </a:solidFill>
                <a:latin typeface="Lato Black"/>
              </a:rPr>
              <a:t>sin costo para el fondo.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83480"/>
            <a:ext cx="76809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C9D0DB"/>
                </a:solidFill>
                <a:latin typeface="Lato"/>
              </a:rPr>
              <a:t>Programa presencial de A1 a B2 en Bucaramanga, con garantía de aprendizaje por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97880"/>
            <a:ext cx="7680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7A828F"/>
                </a:solidFill>
                <a:latin typeface="Lato"/>
              </a:rPr>
              <a:t>Presentación para  </a:t>
            </a:r>
            <a:r>
              <a:rPr sz="1300" b="0" i="0">
                <a:solidFill>
                  <a:srgbClr val="9AA4B5"/>
                </a:solidFill>
                <a:latin typeface="Lato"/>
              </a:rPr>
              <a:t>_______________________________</a:t>
            </a:r>
            <a:r>
              <a:rPr sz="1300" b="0" i="0">
                <a:solidFill>
                  <a:srgbClr val="7A828F"/>
                </a:solidFill>
                <a:latin typeface="Lato"/>
              </a:rPr>
              <a:t>     Bucaramanga, 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0" i="0">
                <a:solidFill>
                  <a:srgbClr val="FBC900"/>
                </a:solidFill>
                <a:latin typeface="Oswald"/>
              </a:rP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3246120"/>
            <a:ext cx="28346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F6F1E9"/>
                </a:solidFill>
                <a:latin typeface="Lato"/>
              </a:rPr>
              <a:t>de beca sobre el programa completo, a nombre del fondo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4343400"/>
            <a:ext cx="283464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0" b="0" i="0">
                <a:solidFill>
                  <a:srgbClr val="F6F1E9"/>
                </a:solidFill>
                <a:latin typeface="Oswald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5303520"/>
            <a:ext cx="2834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F6F1E9"/>
                </a:solidFill>
                <a:latin typeface="Lato"/>
              </a:rPr>
              <a:t>de costo para el fondo. Una hoja, 12 meses.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SOMOS HEIIU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05840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ato Black"/>
              </a:rPr>
              <a:t>Una academia presencial de Bucaramanga que responde por el resultado.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265176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0" i="0">
                <a:solidFill>
                  <a:srgbClr val="0F1B2D"/>
                </a:solidFill>
                <a:latin typeface="Oswald"/>
              </a:rPr>
              <a:t>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46320"/>
            <a:ext cx="2148840" cy="1143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B3445"/>
                </a:solidFill>
                <a:latin typeface="Lato"/>
              </a:rPr>
              <a:t>Licencia de la Secretaría de Educación desde 2012. Sede propia en Sotomayor.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29000"/>
            <a:ext cx="265176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0" i="0">
                <a:solidFill>
                  <a:srgbClr val="0F1B2D"/>
                </a:solidFill>
                <a:latin typeface="Oswald"/>
              </a:rPr>
              <a:t>ISO 9001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846320"/>
            <a:ext cx="2148840" cy="1143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B3445"/>
                </a:solidFill>
                <a:latin typeface="Lato"/>
              </a:rPr>
              <a:t>Certificación de calidad ISO 9001 e ICONTEC.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29000"/>
            <a:ext cx="265176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0" i="0">
                <a:solidFill>
                  <a:srgbClr val="0F1B2D"/>
                </a:solidFill>
                <a:latin typeface="Oswald"/>
              </a:rPr>
              <a:t>575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46320"/>
            <a:ext cx="2148840" cy="1143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B3445"/>
                </a:solidFill>
                <a:latin typeface="Lato"/>
              </a:rPr>
              <a:t>Un solo programa, completo: de A1 a B2, presencial, en grupos de máximo 16.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3429000"/>
            <a:ext cx="265176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0" i="0">
                <a:solidFill>
                  <a:srgbClr val="0F1B2D"/>
                </a:solidFill>
                <a:latin typeface="Oswald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846320"/>
            <a:ext cx="2148840" cy="1143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B3445"/>
                </a:solidFill>
                <a:latin typeface="Lato"/>
              </a:rPr>
              <a:t>Nuestro logro: la garantía por escrito. Si el estudiante cumple y no avanza, le devolvemos el 100% del nivel.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OFERTA EDUCATIVA · PLAN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05840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ato Black"/>
              </a:rPr>
              <a:t>Programa completo de inglés, de A1 a B2: 575 horas presenciales.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35584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0F1B2D"/>
                </a:solidFill>
                <a:latin typeface="Lato"/>
              </a:rPr>
              <a:t>HORARIOS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75888"/>
            <a:ext cx="34747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B3445"/>
                </a:solidFill>
                <a:latin typeface="Lato"/>
              </a:rPr>
              <a:t>Mañana 8:00 a 12:00 · Noche 6:30 a 8:30 p. m. · Sábados 8:00 a 12:00. Con 8 o más afiliados, el horario lo define el fondo.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32461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335584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0F1B2D"/>
                </a:solidFill>
                <a:latin typeface="Lato"/>
              </a:rPr>
              <a:t>INTENSIDAD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3675888"/>
            <a:ext cx="34747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B3445"/>
                </a:solidFill>
                <a:latin typeface="Lato"/>
              </a:rPr>
              <a:t>20 h por semana (unos 7 meses) o 10 h por semana (unos 14 meses). Más un video corto en inglés cada día.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8" y="32461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8" y="335584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0F1B2D"/>
                </a:solidFill>
                <a:latin typeface="Lato"/>
              </a:rPr>
              <a:t>DOCENTES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3675888"/>
            <a:ext cx="34747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B3445"/>
                </a:solidFill>
                <a:latin typeface="Lato"/>
              </a:rPr>
              <a:t>Profesores bilingües colombianos, uno por grupo de máximo 16, que trabajan como coach y corrigen en el momento.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0F1B2D"/>
                </a:solidFill>
                <a:latin typeface="Lato"/>
              </a:rPr>
              <a:t>EVALUACIÓN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30368"/>
            <a:ext cx="34747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B3445"/>
                </a:solidFill>
                <a:latin typeface="Lato"/>
              </a:rPr>
              <a:t>Prueba de entrada, evaluaciones por nivel y evaluador externo al cierre. El fondo recibe asistencia y cumplimiento; nunca notas.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79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79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0F1B2D"/>
                </a:solidFill>
                <a:latin typeface="Lato"/>
              </a:rPr>
              <a:t>CERTIFICACIÓN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9" y="5230368"/>
            <a:ext cx="34747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B3445"/>
                </a:solidFill>
                <a:latin typeface="Lato"/>
              </a:rPr>
              <a:t>Certificado Heiiu por nivel y por programa completo, según la Secretaría de Educación. Certificado de beca a nombre del fondo.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8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8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0F1B2D"/>
                </a:solidFill>
                <a:latin typeface="Lato"/>
              </a:rPr>
              <a:t>GARANTÍA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8" y="5230368"/>
            <a:ext cx="34747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B3445"/>
                </a:solidFill>
                <a:latin typeface="Lato"/>
              </a:rPr>
              <a:t>Si cumple su parte (asistencia 80%, tareas 90%, evaluaciones) y no avanza, le devolvemos el 100% del nivel. Por escrito.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OFERTA EDUCATIVA · VALOR ECONÓMICO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94944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ato Black"/>
              </a:rPr>
              <a:t>El afiliado paga la mitad por venir con carta del fondo.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7132320" cy="2926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5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500" b="1" i="0">
                <a:solidFill>
                  <a:srgbClr val="2B3445"/>
                </a:solidFill>
                <a:latin typeface="Lato"/>
              </a:rPr>
              <a:t>De contado: $4.782.800 </a:t>
            </a:r>
            <a:r>
              <a:rPr sz="1500" b="0" i="0">
                <a:solidFill>
                  <a:srgbClr val="2B3445"/>
                </a:solidFill>
                <a:latin typeface="Lato"/>
              </a:rPr>
              <a:t>en lugar de $8.696.000 (beca del 45%). Crédito del fondo o cesantías cuentan como contado.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5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500" b="1" i="0">
                <a:solidFill>
                  <a:srgbClr val="2B3445"/>
                </a:solidFill>
                <a:latin typeface="Lato"/>
              </a:rPr>
              <a:t>A cuotas con la academia: $5.565.440 </a:t>
            </a:r>
            <a:r>
              <a:rPr sz="1500" b="0" i="0">
                <a:solidFill>
                  <a:srgbClr val="2B3445"/>
                </a:solidFill>
                <a:latin typeface="Lato"/>
              </a:rPr>
              <a:t>(beca del 36%). Ejemplo: $1.113.088 hoy y 11 cuotas de $452.348.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5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500" b="1" i="0">
                <a:solidFill>
                  <a:srgbClr val="2B3445"/>
                </a:solidFill>
                <a:latin typeface="Lato"/>
              </a:rPr>
              <a:t>Beca con el nombre del fondo: </a:t>
            </a:r>
            <a:r>
              <a:rPr sz="1500" b="0" i="0">
                <a:solidFill>
                  <a:srgbClr val="2B3445"/>
                </a:solidFill>
                <a:latin typeface="Lato"/>
              </a:rPr>
              <a:t>3 afiliados por trimestre reciben el 45% aunque paguen a cuotas, más los libros. Si todos cumplen, suben a 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520440" cy="48463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58200" y="1554480"/>
            <a:ext cx="54864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063240" cy="2194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0" i="0">
                <a:solidFill>
                  <a:srgbClr val="FBC900"/>
                </a:solidFill>
                <a:latin typeface="Oswald"/>
              </a:rPr>
              <a:t>$3.913.200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160520"/>
            <a:ext cx="28803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F6F1E9"/>
                </a:solidFill>
                <a:latin typeface="Lato"/>
              </a:rPr>
              <a:t>menos por afiliado sobre el programa completo. Es beca del Fondo de Becas Heiiu, no un descuento: misma tarifa y misma garantía para 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BENEFICIOS · ¿QUÉ GANO YO?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51560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ato Black"/>
              </a:rPr>
              <a:t>El fondo gana un beneficio con su nombre. El afiliado gana un inglés que le sirve.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46120"/>
            <a:ext cx="539496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42900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E54C09"/>
                </a:solidFill>
                <a:latin typeface="Lato"/>
              </a:rPr>
              <a:t>EL FONDO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846320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300" b="1" i="0">
                <a:solidFill>
                  <a:srgbClr val="2B3445"/>
                </a:solidFill>
                <a:latin typeface="Lato"/>
              </a:rPr>
              <a:t>Sin costo ni presupuesto. </a:t>
            </a:r>
            <a:r>
              <a:rPr sz="1300" b="0" i="0">
                <a:solidFill>
                  <a:srgbClr val="2B3445"/>
                </a:solidFill>
                <a:latin typeface="Lato"/>
              </a:rPr>
              <a:t>El fondo postula con una carta; no paga ni cobra nada.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300" b="1" i="0">
                <a:solidFill>
                  <a:srgbClr val="2B3445"/>
                </a:solidFill>
                <a:latin typeface="Lato"/>
              </a:rPr>
              <a:t>Becas y certificados con su nombre, </a:t>
            </a:r>
            <a:r>
              <a:rPr sz="1300" b="0" i="0">
                <a:solidFill>
                  <a:srgbClr val="2B3445"/>
                </a:solidFill>
                <a:latin typeface="Lato"/>
              </a:rPr>
              <a:t>entregados en su propio evento.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300" b="1" i="0">
                <a:solidFill>
                  <a:srgbClr val="2B3445"/>
                </a:solidFill>
                <a:latin typeface="Lato"/>
              </a:rPr>
              <a:t>Reporte de asistencia y cumplimiento </a:t>
            </a:r>
            <a:r>
              <a:rPr sz="1300" b="0" i="0">
                <a:solidFill>
                  <a:srgbClr val="2B3445"/>
                </a:solidFill>
                <a:latin typeface="Lato"/>
              </a:rPr>
              <a:t>de cada becado: el fondo ve quién cumple.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300" b="1" i="0">
                <a:solidFill>
                  <a:srgbClr val="2B3445"/>
                </a:solidFill>
                <a:latin typeface="Lato"/>
              </a:rPr>
              <a:t>10 diagnósticos de nivel sin costo </a:t>
            </a:r>
            <a:r>
              <a:rPr sz="1300" b="0" i="0">
                <a:solidFill>
                  <a:srgbClr val="2B3445"/>
                </a:solidFill>
                <a:latin typeface="Lato"/>
              </a:rPr>
              <a:t>la semana siguiente a la firma.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246120"/>
            <a:ext cx="5394960" cy="301752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E54C09"/>
                </a:solidFill>
                <a:latin typeface="Lato"/>
              </a:rPr>
              <a:t>EL AFILIADO Y SU FAMILIA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794760"/>
            <a:ext cx="4846320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300" b="1" i="0">
                <a:solidFill>
                  <a:srgbClr val="F6F1E9"/>
                </a:solidFill>
                <a:latin typeface="Lato"/>
              </a:rPr>
              <a:t>Paga la mitad, </a:t>
            </a:r>
            <a:r>
              <a:rPr sz="1300" b="0" i="0">
                <a:solidFill>
                  <a:srgbClr val="F6F1E9"/>
                </a:solidFill>
                <a:latin typeface="Lato"/>
              </a:rPr>
              <a:t>y la beca cubre también a su cónyuge y a sus hijos desde los 12 años.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300" b="1" i="0">
                <a:solidFill>
                  <a:srgbClr val="F6F1E9"/>
                </a:solidFill>
                <a:latin typeface="Lato"/>
              </a:rPr>
              <a:t>Gana cerca de un 26% más </a:t>
            </a:r>
            <a:r>
              <a:rPr sz="1300" b="0" i="0">
                <a:solidFill>
                  <a:srgbClr val="F6F1E9"/>
                </a:solidFill>
                <a:latin typeface="Lato"/>
              </a:rPr>
              <a:t>quien certifica su inglés, frente a quien hace el mismo trabajo sin él.¹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300" b="1" i="0">
                <a:solidFill>
                  <a:srgbClr val="F6F1E9"/>
                </a:solidFill>
                <a:latin typeface="Lato"/>
              </a:rPr>
              <a:t>Garantía por escrito: </a:t>
            </a:r>
            <a:r>
              <a:rPr sz="1300" b="0" i="0">
                <a:solidFill>
                  <a:srgbClr val="F6F1E9"/>
                </a:solidFill>
                <a:latin typeface="Lato"/>
              </a:rPr>
              <a:t>si cumple y no avanza, recibe el 100% del nivel de vuelta.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300" b="1" i="0">
                <a:solidFill>
                  <a:srgbClr val="F6F1E9"/>
                </a:solidFill>
                <a:latin typeface="Lato"/>
              </a:rPr>
              <a:t>No entrena solo: </a:t>
            </a:r>
            <a:r>
              <a:rPr sz="1300" b="0" i="0">
                <a:solidFill>
                  <a:srgbClr val="F6F1E9"/>
                </a:solidFill>
                <a:latin typeface="Lato"/>
              </a:rPr>
              <a:t>profesor que corrige ahí mismo, coach que no lo deja rendirse, y el video del primer día junto al del último.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28F"/>
                </a:solidFill>
                <a:latin typeface="Lato"/>
              </a:rPr>
              <a:t>¹ DNP, Archivos de Economía, Bilingüismo laboral en Colombia.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9AA4B5"/>
                </a:solidFill>
                <a:latin typeface="Oswald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LLAMADO A LA 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51560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F6F1E9"/>
                </a:solidFill>
                <a:latin typeface="Lato Black"/>
              </a:rPr>
              <a:t>El próximo grupo arranca el martes 3 de noviembre. Firmemos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9AA4B5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4612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000" b="0" i="0">
                <a:solidFill>
                  <a:srgbClr val="FBC900"/>
                </a:solidFill>
                <a:latin typeface="Oswald"/>
              </a:rPr>
              <a:t>3 NOV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E54C09"/>
                </a:solidFill>
                <a:latin typeface="Lato"/>
              </a:rPr>
              <a:t>INICIO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301752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F6F1E9"/>
                </a:solidFill>
                <a:latin typeface="Lato"/>
              </a:rPr>
              <a:t>Martes 3 de noviembre de 2026. El grupo no para en diciembre: sigue hasta terminar el nivel, solo descansa los festivos.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24612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333756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000" b="0" i="0">
                <a:solidFill>
                  <a:srgbClr val="FBC900"/>
                </a:solidFill>
                <a:latin typeface="Oswald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25196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E54C09"/>
                </a:solidFill>
                <a:latin typeface="Lato"/>
              </a:rPr>
              <a:t>CUPOS POR GRUPO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4572000"/>
            <a:ext cx="301752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F6F1E9"/>
                </a:solidFill>
                <a:latin typeface="Lato"/>
              </a:rPr>
              <a:t>Grupos de máximo 16, por orden de matrícula con la inicial pagada. Los que no entren ahora esperan al siguiente grupo.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8" y="324612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333756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000" b="0" i="0">
                <a:solidFill>
                  <a:srgbClr val="FBC900"/>
                </a:solidFill>
                <a:latin typeface="Oswa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425196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E54C09"/>
                </a:solidFill>
                <a:latin typeface="Lato"/>
              </a:rPr>
              <a:t>BECAS CON SU NOMBRE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8" y="4572000"/>
            <a:ext cx="301752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F6F1E9"/>
                </a:solidFill>
                <a:latin typeface="Lato"/>
              </a:rPr>
              <a:t>Este trimestre, para los afiliados que el fondo elija. Si todos cumplen, suben a 5 el siguiente.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626042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18320" y="457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9AA4B5"/>
                </a:solidFill>
                <a:latin typeface="Oswald"/>
              </a:rPr>
              <a:t>7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589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UN SOLO 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758952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1" i="0">
                <a:solidFill>
                  <a:srgbClr val="F6F1E9"/>
                </a:solidFill>
                <a:latin typeface="Lato Black"/>
              </a:rPr>
              <a:t>¿Cuántos de sus afiliados quiere ver hablando inglés </a:t>
            </a:r>
            <a:r>
              <a:rPr sz="3800" b="1" i="0">
                <a:solidFill>
                  <a:srgbClr val="FBC900"/>
                </a:solidFill>
                <a:latin typeface="Lato Black"/>
              </a:rPr>
              <a:t>el próximo año?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51960"/>
            <a:ext cx="7589520" cy="1051560"/>
          </a:xfrm>
          <a:prstGeom prst="roundRect">
            <a:avLst>
              <a:gd name="adj" fmla="val 3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51960"/>
            <a:ext cx="722376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ato"/>
              </a:rPr>
              <a:t>Firmamos hoy y la charla de 20 minutos la hacemos el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a las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o el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a las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75895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FBC900"/>
                </a:solidFill>
                <a:latin typeface="Lato"/>
              </a:rPr>
              <a:t>Si va a junta: </a:t>
            </a:r>
            <a:r>
              <a:rPr sz="1600" b="0" i="0">
                <a:solidFill>
                  <a:srgbClr val="F6F1E9"/>
                </a:solidFill>
                <a:latin typeface="Lato"/>
              </a:rPr>
              <a:t>¿cuándo se reúne? Le dejo el convenio listo para esa fecha.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9AA4B5"/>
                </a:solidFill>
                <a:latin typeface="Lato"/>
              </a:rPr>
              <a:t>Una hoja · sin costo · 12 meses · se termina con aviso de 30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1600200"/>
            <a:ext cx="3017520" cy="4069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_convenio_entidad_minia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664208"/>
            <a:ext cx="3045367" cy="394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32520" y="576072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5"/>
                </a:solidFill>
                <a:latin typeface="Lato"/>
              </a:rPr>
              <a:t>El convenio: una hoja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9AA4B5"/>
                </a:solidFill>
                <a:latin typeface="Lato"/>
              </a:rPr>
              <a:t>Heiiu English Academy · Global Teacher S.A.S. · Línea de alianzas 316 768 8793 · Carrera 27 # 48-49, Sotomayor, Bucaramanga · @Heiiu_english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