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EMPEZAR (una pregunta): "¿Un convenio así lo firma usted o lo lleva a junta? ¿Cuándo se reúne la junta?" Con esa respuesta sabes si hoy sales con firma o con fecha de junta.</a:t>
            </a:r>
          </a:p>
          <a:p>
            <a:r>
              <a:t>QUÉ DECIR (20 segundos): "Vengo a proponerle un beneficio nuevo para sus afiliados que al fondo no le cuesta nada: beca del 45% en el programa de inglés de Heiiu, para ellos y sus familias, con el nombre del fondo. Somos una academia de Bucaramanga con licencia de la Secretaría de Educación desde 2012 y certificación ISO 9001 e ICONTEC; el detalle se lo dejo en una hoja. Le pido 10 minutos y salgo con una sola cosa: una fecha."</a:t>
            </a:r>
          </a:p>
          <a:p>
            <a:r>
              <a:t>NO leer la diapositiva. NO hablar de la academia más de 20 segundos. NO entregar la hoja todavía.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"Le hablo hoy y no el mes entrante por una razón: el grupo arranca el martes 3 de noviembre y no para en diciembre. Si firmamos esta semana, sus afiliados alcanzan a entrar. Si no, el siguiente grupo es [fecha real del siguiente grupo]."</a:t>
            </a:r>
          </a:p>
          <a:p>
            <a:r>
              <a:t>Decir solo cupos reales: grupos de 16 y 3 becas con nombre por trimestre. Nunca "últimos cupos" si no es cierto.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"El afiliado paga $4.782.800 por el programa completo que vale $8.696.000. Es beca del Fondo de Becas Heiiu, no un descuento: la misma tarifa y la misma garantía para todos los que entran con carta del fondo. Si el fondo le presta o paga con cesantías, cuenta como contado y recibe la beca mayor. También hay plan a cuotas con la academia; los números están en la hoja."</a:t>
            </a:r>
          </a:p>
          <a:p>
            <a:r>
              <a:t>NO mostrar ni recitar la tabla completa. Si pregunta por cuotas, horarios o profesores: "está en la hoja, se la dejo al final"; responde en una frase y vuelve al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"Lo que más le preocupa a un gerente es quedar mal con sus afiliados. Por eso lo firmamos: si el afiliado cumple su parte (asistencia del 80%, tarea diaria en video, evaluaciones) y no avanza, le devolvemos el 100% del nivel. Y el fondo no asume nada: no paga, no cobra, y puede terminar el convenio con aviso de 30 días."</a:t>
            </a:r>
          </a:p>
          <a:p>
            <a:r>
              <a:t>Si pregunta "¿y si nadie se inscribe?": "No le cuesta nada al fondo. Lo único que le pido es la charla de 20 minutos."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"Para el fondo esto es un beneficio más en su portafolio, con su nombre, sin tocar presupuesto. Usted postula con una carta de una página y nosotros hacemos el resto. Cada trimestre recibe el reporte de asistencia y cumplimiento de sus becados; nunca notas. Y la semana siguiente a la firma hacemos el diagnóstico de nivel a 10 afiliados sin costo."</a:t>
            </a:r>
          </a:p>
          <a:p>
            <a:r>
              <a:t>Si quiere datos de por qué inglés (26% más de ingreso, 1 de cada 8 sale del colegio con inglés): están en la hoja con fuente. Decir uno, no los seis.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"Le pido una sola cosa: que firmemos hoy este convenio de una página y me dé fecha y hora para la charla de 20 minutos con sus afiliados. ¿La hacemos el [día] a las [hora] o el [día] a las [hora]?" Y SILENCIO. Que responda él.</a:t>
            </a:r>
          </a:p>
          <a:p>
            <a:r>
              <a:t>Si debe ir a junta: "¿Cuándo se reúne la junta? Le dejo el convenio y la hoja listos para esa fecha, y lo llamo el día siguiente."</a:t>
            </a:r>
          </a:p>
          <a:p>
            <a:r>
              <a:t>AL FINAL, no antes: entregar la hoja (HOJA_FONDOS_EMPLEADOS_HEIIU.pdf impresa) y el convenio en dos copias.</a:t>
            </a:r>
          </a:p>
          <a:p>
            <a:r>
              <a:t>Lo que cuenta para el tablero: convenio firmado con fecha de charla, o fecha de junta anotada. Un "lo pienso" sin fecha no cuenta.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2439063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874519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BC900"/>
                </a:solidFill>
                <a:latin typeface="Segoe UI"/>
              </a:rPr>
              <a:t>PROGRAMA DE INGLÉS PARA FONDOS DE EMPLEADOS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1115568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onstantia"/>
              </a:rPr>
              <a:t>Beca del 45% en inglés para sus afiliados y sus familias, </a:t>
            </a:r>
            <a:r>
              <a:rPr sz="4400" b="1" i="1">
                <a:solidFill>
                  <a:srgbClr val="FBC900"/>
                </a:solidFill>
                <a:latin typeface="Constantia"/>
              </a:rPr>
              <a:t>sin costo para el fondo.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109728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FFF8E7"/>
                </a:solidFill>
                <a:latin typeface="Segoe UI"/>
              </a:rPr>
              <a:t>Programa presencial de A1 a B2, en Bucaramanga. Con garantía de aprendizaje por escrito.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73152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Para: 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________________________________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Bucaramanga · octubre de 2026</a:t>
            </a:r>
          </a:p>
        </p:txBody>
      </p:sp>
      <p:pic>
        <p:nvPicPr>
          <p:cNvPr id="9" name="Picture 8" descr="logo_heiiu_sobre_naranj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5715000"/>
            <a:ext cx="1788646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54864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 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36576"/>
            <a:ext cx="51206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 · PROGRAMA PARA FONDOS DE EMPLEADOS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7223760" cy="2377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E54C09"/>
                </a:solidFill>
                <a:latin typeface="Constantia"/>
              </a:rPr>
              <a:t>El próximo grupo arranca el martes 3 de noviembre.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29000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7223760" cy="2468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222222"/>
                </a:solidFill>
                <a:latin typeface="Segoe UI"/>
              </a:rPr>
              <a:t>Quedan 8 días. El grupo no para en diciembre: sigue hasta terminar el nivel.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222222"/>
                </a:solidFill>
                <a:latin typeface="Segoe UI"/>
              </a:rPr>
              <a:t>Este trimestre hay 3 becas con el nombre del fondo. Si todos cumplen, suben a 5.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222222"/>
                </a:solidFill>
                <a:latin typeface="Segoe UI"/>
              </a:rPr>
              <a:t>Los afiliados que no entren ahora esperan al siguiente grupo.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914400"/>
            <a:ext cx="3566160" cy="512064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280160"/>
            <a:ext cx="3383280" cy="2377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Constantia"/>
              </a:rPr>
              <a:t>3 NOV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749039"/>
            <a:ext cx="320040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</a:rPr>
              <a:t>Martes 3 de noviembre de 2026. Grupos de máximo 16, por orden de matrícula con la inicial pagada.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Segoe UI"/>
              </a:rPr>
              <a:t>Línea de alianzas 316 768 8793 · Carrera 27 # 48-49, Sotomayor, Bucaramanga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54864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3 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36576"/>
            <a:ext cx="51206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 · PROGRAMA PARA FONDOS DE EMPLEADOS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7223760" cy="2377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E54C09"/>
                </a:solidFill>
                <a:latin typeface="Constantia"/>
              </a:rPr>
              <a:t>Afiliados y familias estudian con 45% de beca a nombre del fondo.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29000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7223760" cy="2468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222222"/>
                </a:solidFill>
                <a:latin typeface="Segoe UI"/>
              </a:rPr>
              <a:t>Programa completo de inglés, de A1 a B2: 575 horas presenciales, grupos de máximo 16.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222222"/>
                </a:solidFill>
                <a:latin typeface="Segoe UI"/>
              </a:rPr>
              <a:t>Para el afiliado, su cónyuge y sus hijos desde los 12 años.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222222"/>
                </a:solidFill>
                <a:latin typeface="Segoe UI"/>
              </a:rPr>
              <a:t>Con crédito del fondo o cesantías paga de contado, y la beca de contado es la mayor.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914400"/>
            <a:ext cx="3566160" cy="512064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280160"/>
            <a:ext cx="3383280" cy="2377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onstantia"/>
              </a:rPr>
              <a:t>$3.913.200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749039"/>
            <a:ext cx="320040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</a:rPr>
              <a:t>menos por afiliado: $4.782.800 en lugar de $8.696.000, el programa completo.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Segoe UI"/>
              </a:rPr>
              <a:t>Línea de alianzas 316 768 8793 · Carrera 27 # 48-49, Sotomayor, Bucaramanga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54864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4 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36576"/>
            <a:ext cx="51206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 · PROGRAMA PARA FONDOS DE EMPLEADOS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7223760" cy="2377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onstantia"/>
              </a:rPr>
              <a:t>Si el estudiante cumple y no avanza, le devolvemos el 100% del nivel.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29000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7223760" cy="2468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FBC900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FFF8E7"/>
                </a:solidFill>
                <a:latin typeface="Segoe UI"/>
              </a:rPr>
              <a:t>Garantía por escrito, en el contrato de cada afiliado.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FBC900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FFF8E7"/>
                </a:solidFill>
                <a:latin typeface="Segoe UI"/>
              </a:rPr>
              <a:t>El fondo no paga, no cobra ni gestiona nada: cada afiliado contrata directo con la academia.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FBC900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FFF8E7"/>
                </a:solidFill>
                <a:latin typeface="Segoe UI"/>
              </a:rPr>
              <a:t>El convenio se termina con aviso de 30 días, sin afectar a los ya matriculados.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914400"/>
            <a:ext cx="3566160" cy="512064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280160"/>
            <a:ext cx="3383280" cy="2377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Constantia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749039"/>
            <a:ext cx="320040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</a:rPr>
              <a:t>del nivel devuelto si cumple asistencia, tareas y evaluaciones y no avanza. Por escrito.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9B8A3"/>
                </a:solidFill>
                <a:latin typeface="Segoe UI"/>
              </a:rPr>
              <a:t>Línea de alianzas 316 768 8793 · Carrera 27 # 48-49, Sotomayor, Bucaramanga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54864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5 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36576"/>
            <a:ext cx="51206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 · PROGRAMA PARA FONDOS DE EMPLEADOS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2377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E54C09"/>
                </a:solidFill>
                <a:latin typeface="Constantia"/>
              </a:rPr>
              <a:t>Un beneficio nuevo con su nombre, sin presupuesto y con reporte.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29000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11155680" cy="2468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222222"/>
                </a:solidFill>
                <a:latin typeface="Segoe UI"/>
              </a:rPr>
              <a:t>Becas y certificados con el nombre del fondo, entregados en su propio evento.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222222"/>
                </a:solidFill>
                <a:latin typeface="Segoe UI"/>
              </a:rPr>
              <a:t>Reporte de asistencia y cumplimiento de cada becado: el fondo ve quién cumple.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 i="0">
                <a:solidFill>
                  <a:srgbClr val="E54C09"/>
                </a:solidFill>
                <a:latin typeface="Segoe UI"/>
              </a:rPr>
              <a:t>▪ </a:t>
            </a:r>
            <a:r>
              <a:rPr sz="2200" b="0" i="0">
                <a:solidFill>
                  <a:srgbClr val="222222"/>
                </a:solidFill>
                <a:latin typeface="Segoe UI"/>
              </a:rPr>
              <a:t>Cero carga operativa: el fondo postula con una carta, la academia hace el resto. Y diagnóstico de nivel para 10 afiliados, sin costo.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Segoe UI"/>
              </a:rPr>
              <a:t>Línea de alianzas 316 768 8793 · Carrera 27 # 48-49, Sotomayor, Bucaramanga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"/>
            <a:ext cx="54864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6 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36576"/>
            <a:ext cx="51206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HEIIU ENGLISH ACADEMY · PROGRAMA PARA FONDOS DE EMPLEADOS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7498079" cy="2103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FBC900"/>
                </a:solidFill>
                <a:latin typeface="Constantia"/>
              </a:rPr>
              <a:t>Un solo paso: </a:t>
            </a:r>
            <a:r>
              <a:rPr sz="3600" b="1" i="0">
                <a:solidFill>
                  <a:srgbClr val="FFFFFF"/>
                </a:solidFill>
                <a:latin typeface="Constantia"/>
              </a:rPr>
              <a:t>firmar el convenio hoy y fijar la charla de 20 minutos con sus afiliados.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017520"/>
            <a:ext cx="1463040" cy="38000"/>
          </a:xfrm>
          <a:prstGeom prst="rect">
            <a:avLst/>
          </a:prstGeom>
          <a:solidFill>
            <a:srgbClr val="FBC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291840"/>
            <a:ext cx="7498079" cy="1371600"/>
          </a:xfrm>
          <a:prstGeom prst="rect">
            <a:avLst/>
          </a:prstGeom>
          <a:solidFill>
            <a:srgbClr val="FF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37560"/>
            <a:ext cx="7132320" cy="1280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</a:rPr>
              <a:t>¿La charla la hacemos el </a:t>
            </a:r>
            <a:r>
              <a:rPr sz="2400" b="1" i="0">
                <a:solidFill>
                  <a:srgbClr val="FBC900"/>
                </a:solidFill>
                <a:latin typeface="Segoe UI"/>
              </a:rPr>
              <a:t>________</a:t>
            </a:r>
            <a:r>
              <a:rPr sz="2400" b="1" i="0">
                <a:solidFill>
                  <a:srgbClr val="FFFFFF"/>
                </a:solidFill>
                <a:latin typeface="Segoe UI"/>
              </a:rPr>
              <a:t> a las </a:t>
            </a:r>
            <a:r>
              <a:rPr sz="2400" b="1" i="0">
                <a:solidFill>
                  <a:srgbClr val="FBC900"/>
                </a:solidFill>
                <a:latin typeface="Segoe UI"/>
              </a:rPr>
              <a:t>_____</a:t>
            </a:r>
            <a:r>
              <a:rPr sz="2400" b="1" i="0">
                <a:solidFill>
                  <a:srgbClr val="FFFFFF"/>
                </a:solidFill>
                <a:latin typeface="Segoe UI"/>
              </a:rPr>
              <a:t> o el </a:t>
            </a:r>
            <a:r>
              <a:rPr sz="2400" b="1" i="0">
                <a:solidFill>
                  <a:srgbClr val="FBC900"/>
                </a:solidFill>
                <a:latin typeface="Segoe UI"/>
              </a:rPr>
              <a:t>________</a:t>
            </a:r>
            <a:r>
              <a:rPr sz="2400" b="1" i="0">
                <a:solidFill>
                  <a:srgbClr val="FFFFFF"/>
                </a:solidFill>
                <a:latin typeface="Segoe UI"/>
              </a:rPr>
              <a:t> a las </a:t>
            </a:r>
            <a:r>
              <a:rPr sz="2400" b="1" i="0">
                <a:solidFill>
                  <a:srgbClr val="FBC900"/>
                </a:solidFill>
                <a:latin typeface="Segoe UI"/>
              </a:rPr>
              <a:t>_____</a:t>
            </a:r>
            <a:r>
              <a:rPr sz="2400" b="1" i="0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7498079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FBC900"/>
                </a:solidFill>
                <a:latin typeface="Segoe UI"/>
              </a:rPr>
              <a:t>Si va a junta: </a:t>
            </a:r>
            <a:r>
              <a:rPr sz="1800" b="0" i="0">
                <a:solidFill>
                  <a:srgbClr val="FFF8E7"/>
                </a:solidFill>
                <a:latin typeface="Segoe UI"/>
              </a:rPr>
              <a:t>¿cuándo se reúne? Le dejo el convenio listo para esa fecha.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C9B8A3"/>
                </a:solidFill>
                <a:latin typeface="Segoe UI"/>
              </a:rPr>
              <a:t>Una hoja, sin costo, 12 meses, se termina con aviso de 30 días.</a:t>
            </a:r>
          </a:p>
        </p:txBody>
      </p:sp>
      <p:pic>
        <p:nvPicPr>
          <p:cNvPr id="11" name="Picture 10" descr="_convenio_entidad_minia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822960"/>
            <a:ext cx="3956858" cy="5120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9B8A3"/>
                </a:solidFill>
                <a:latin typeface="Segoe UI"/>
              </a:rPr>
              <a:t>Heiiu English Academy · Global Teacher S.A.S. · Línea de alianzas 316 768 8793 · Carrera 27 # 48-49, Sotomayor, Bucaramanga · @Heiiu_english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