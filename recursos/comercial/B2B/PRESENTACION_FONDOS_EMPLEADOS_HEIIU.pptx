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2601667" cy="1463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9202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FBC900"/>
                </a:solidFill>
                <a:latin typeface="Segoe UI"/>
              </a:rPr>
              <a:t>PROGRAMA DE INGLÉS PARA FONDOS DE EMPLEADOS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15568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onstantia"/>
              </a:rPr>
              <a:t>Las otras academias le prometen inglés. </a:t>
            </a:r>
            <a:r>
              <a:rPr sz="4000" b="1" i="1">
                <a:solidFill>
                  <a:srgbClr val="FBC900"/>
                </a:solidFill>
                <a:latin typeface="Constantia"/>
              </a:rPr>
              <a:t>Nosotros le devolvemos un mejor afiliado.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343400"/>
            <a:ext cx="109728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FFF8E7"/>
                </a:solidFill>
                <a:latin typeface="Segoe UI"/>
              </a:rPr>
              <a:t>Becas con el nombre de su fondo para sus afiliados y sus hijos, sin costo para el fondo. Con garantía de aprendizaje por escrito: si el estudiante cumple su parte y no avanza, le devolvemos el 100% del nivel.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73152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Presentación para: </a:t>
            </a:r>
            <a:r>
              <a:rPr sz="1500" b="0" i="0">
                <a:solidFill>
                  <a:srgbClr val="FFFFFF"/>
                </a:solidFill>
                <a:latin typeface="Segoe UI"/>
              </a:rPr>
              <a:t>________________________________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egoe UI"/>
              </a:rPr>
              <a:t>Bucaramanga · octubre de 2026</a:t>
            </a:r>
          </a:p>
        </p:txBody>
      </p:sp>
      <p:pic>
        <p:nvPicPr>
          <p:cNvPr id="9" name="Picture 8" descr="logo_heiiu_sobre_naranj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5715000"/>
            <a:ext cx="1788646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"/>
            <a:ext cx="822960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2 · SOMOS HEIIU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36576"/>
            <a:ext cx="23774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HEIIU ENGLISH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10515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E54C09"/>
                </a:solidFill>
                <a:latin typeface="Constantia"/>
              </a:rPr>
              <a:t>Una academia presencial de Bucaramanga que responde por el resultado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463040" cy="38000"/>
          </a:xfrm>
          <a:prstGeom prst="rect">
            <a:avLst/>
          </a:prstGeom>
          <a:solidFill>
            <a:srgbClr val="FBC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28800"/>
            <a:ext cx="5669280" cy="4206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400" b="1" i="0">
                <a:solidFill>
                  <a:srgbClr val="222222"/>
                </a:solidFill>
                <a:latin typeface="Segoe UI"/>
              </a:rPr>
              <a:t>Desde 2012. </a:t>
            </a:r>
            <a:r>
              <a:rPr sz="1400" b="0" i="0">
                <a:solidFill>
                  <a:srgbClr val="222222"/>
                </a:solidFill>
                <a:latin typeface="Segoe UI"/>
              </a:rPr>
              <a:t>Heiiu English Academy es la marca de Global Teacher S.A.S., con licencia de la Secretaría de Educación (educación para el trabajo y el desarrollo humano) y sede propia en Sotomayor, Carrera 27 # 48-49.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400" b="1" i="0">
                <a:solidFill>
                  <a:srgbClr val="222222"/>
                </a:solidFill>
                <a:latin typeface="Segoe UI"/>
              </a:rPr>
              <a:t>Certificada. </a:t>
            </a:r>
            <a:r>
              <a:rPr sz="1400" b="0" i="0">
                <a:solidFill>
                  <a:srgbClr val="222222"/>
                </a:solidFill>
                <a:latin typeface="Segoe UI"/>
              </a:rPr>
              <a:t>Certificación de calidad ISO 9001 e ICONTEC.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400" b="1" i="0">
                <a:solidFill>
                  <a:srgbClr val="222222"/>
                </a:solidFill>
                <a:latin typeface="Segoe UI"/>
              </a:rPr>
              <a:t>Un solo programa, completo. </a:t>
            </a:r>
            <a:r>
              <a:rPr sz="1400" b="0" i="0">
                <a:solidFill>
                  <a:srgbClr val="222222"/>
                </a:solidFill>
                <a:latin typeface="Segoe UI"/>
              </a:rPr>
              <a:t>De A1 a B2 en 575 horas presenciales certificadas, en grupos de máximo 16 personas. B2 es el nivel que piden las vacantes, las universidades y los programas en el exterior.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400" b="1" i="0">
                <a:solidFill>
                  <a:srgbClr val="222222"/>
                </a:solidFill>
                <a:latin typeface="Segoe UI"/>
              </a:rPr>
              <a:t>Nuestro logro: la garantía. </a:t>
            </a:r>
            <a:r>
              <a:rPr sz="1400" b="0" i="0">
                <a:solidFill>
                  <a:srgbClr val="222222"/>
                </a:solidFill>
                <a:latin typeface="Segoe UI"/>
              </a:rPr>
              <a:t>Es la que queda por escrito en el contrato de cada estudiante: si cumple su parte y no avanza, le devolvemos el 100% del nivel. Pregunte en cualquier academia quién la firma.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400" b="1" i="0">
                <a:solidFill>
                  <a:srgbClr val="222222"/>
                </a:solidFill>
                <a:latin typeface="Segoe UI"/>
              </a:rPr>
              <a:t>Convenios vigentes </a:t>
            </a:r>
            <a:r>
              <a:rPr sz="1400" b="0" i="0">
                <a:solidFill>
                  <a:srgbClr val="222222"/>
                </a:solidFill>
                <a:latin typeface="Segoe UI"/>
              </a:rPr>
              <a:t>con entidades y empresas de la región, con becas a nombre de cada una.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828800"/>
            <a:ext cx="52120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56832" y="1938528"/>
            <a:ext cx="4882896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E54C09"/>
                </a:solidFill>
                <a:latin typeface="Segoe UI"/>
              </a:rPr>
              <a:t>HABLAS DESDE EL PRIMER DÍA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6832" y="2331720"/>
            <a:ext cx="4882896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222222"/>
                </a:solidFill>
                <a:latin typeface="Segoe UI"/>
              </a:rPr>
              <a:t>Cada clase tiene una simulación real (una llamada, una reunión, un cliente, una entrevista) con un profesor que corrige ahí mismo. Celular guardado.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3273552"/>
            <a:ext cx="52120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2" y="3383280"/>
            <a:ext cx="4882896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E54C09"/>
                </a:solidFill>
                <a:latin typeface="Segoe UI"/>
              </a:rPr>
              <a:t>AQUÍ NADIE ENTRENA SOLO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3776472"/>
            <a:ext cx="4882896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222222"/>
                </a:solidFill>
                <a:latin typeface="Segoe UI"/>
              </a:rPr>
              <a:t>Video corto en inglés todos los días desde la casa, devuelto con una mejora. Si falta y no avisa, lo llamamos ese mismo día. Cada clase registra la hora de llegada.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718304"/>
            <a:ext cx="52120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56832" y="4828032"/>
            <a:ext cx="4882896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E54C09"/>
                </a:solidFill>
                <a:latin typeface="Segoe UI"/>
              </a:rPr>
              <a:t>SE NOTA, Y SE PUEDE MOSTRAR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5221224"/>
            <a:ext cx="4882896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222222"/>
                </a:solidFill>
                <a:latin typeface="Segoe UI"/>
              </a:rPr>
              <a:t>Prueba de entrada y de salida, evaluador externo al cierre de cada nivel, y el video del primer día junto al del último. Lo que avanza queda por escrito, no en una sensación.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5A5A5A"/>
                </a:solidFill>
                <a:latin typeface="Segoe UI"/>
              </a:rPr>
              <a:t>Vender inglés es fácil. Lo difícil es que la gente aprenda. En Heiiu queremos la parte difícil: que venga, que se suelte a hablar y que no se rinda.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"/>
            <a:ext cx="822960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3 · OFERTA EDUCATIVA · PLAN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36576"/>
            <a:ext cx="23774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HEIIU ENGLISH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10515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E54C09"/>
                </a:solidFill>
                <a:latin typeface="Constantia"/>
              </a:rPr>
              <a:t>Programa completo de inglés, de A1 a B2: 575 horas presenciales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463040" cy="38000"/>
          </a:xfrm>
          <a:prstGeom prst="rect">
            <a:avLst/>
          </a:prstGeom>
          <a:solidFill>
            <a:srgbClr val="FBC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36118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938528"/>
            <a:ext cx="3282696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E54C09"/>
                </a:solidFill>
                <a:latin typeface="Segoe UI"/>
              </a:rPr>
              <a:t>HORARIOS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331720"/>
            <a:ext cx="3282696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Mañana: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lunes a viernes, 8:00 a 12:00.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Noche: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lunes a viernes, 6:30 a 8:30 p. m.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Sábados: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8:00 a 12:00 (taller).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5A5A5A"/>
                </a:solidFill>
                <a:latin typeface="Segoe UI"/>
              </a:rPr>
              <a:t>Con 8 o más afiliados en el mismo grupo, el horario lo define el fondo.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828800"/>
            <a:ext cx="36118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938528"/>
            <a:ext cx="3282696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E54C09"/>
                </a:solidFill>
                <a:latin typeface="Segoe UI"/>
              </a:rPr>
              <a:t>INTENSIDAD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331720"/>
            <a:ext cx="3282696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Súper intensivo: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20 horas a la semana, programa completo en unos 7 meses.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Intensivo: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10 horas a la semana, en unos 14 meses.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Más la práctica diaria: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un video corto en inglés desde la casa, todos los días, devuelto con una mejora.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37576" y="1828800"/>
            <a:ext cx="36118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2168" y="1938528"/>
            <a:ext cx="3282696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E54C09"/>
                </a:solidFill>
                <a:latin typeface="Segoe UI"/>
              </a:rPr>
              <a:t>DOCENTES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2168" y="2331720"/>
            <a:ext cx="3282696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Profesores bilingües colombianos,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un profesor por grupo de máximo 16.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Trabajan como coach: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dirigen la simulación, corrigen en el momento y revisan el video de cada día.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Coordinación académica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sigue asistencia, tareas y evaluaciones.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995928"/>
            <a:ext cx="36118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105656"/>
            <a:ext cx="3282696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E54C09"/>
                </a:solidFill>
                <a:latin typeface="Segoe UI"/>
              </a:rPr>
              <a:t>EVALUACIÓN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4498848"/>
            <a:ext cx="3282696" cy="1554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Prueba de entrada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el primer día.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Evaluaciones durante el nivel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y evaluación final con evaluador externo al cierre de cada nivel.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Reporte al fondo: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asistencia y cumplimiento de tareas de cada afiliado becado. Nunca notas: esas son del estudiante.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0248" y="3995928"/>
            <a:ext cx="36118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4105656"/>
            <a:ext cx="3282696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E54C09"/>
                </a:solidFill>
                <a:latin typeface="Segoe UI"/>
              </a:rPr>
              <a:t>CERTIFICACIÓN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498848"/>
            <a:ext cx="3282696" cy="1554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Certificado Heiiu por cada nivel terminado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(A1, A2, B1, B2) y por el programa completo, según los estándares de la Secretaría de Educación.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22222"/>
                </a:solidFill>
                <a:latin typeface="Segoe UI"/>
              </a:rPr>
              <a:t>Certificado de beca </a:t>
            </a:r>
            <a:r>
              <a:rPr sz="1250" b="0" i="0">
                <a:solidFill>
                  <a:srgbClr val="222222"/>
                </a:solidFill>
                <a:latin typeface="Segoe UI"/>
              </a:rPr>
              <a:t>a nombre del fondo para cada becado, entregado en el fondo o en la sede.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37576" y="3995928"/>
            <a:ext cx="3611880" cy="2148840"/>
          </a:xfrm>
          <a:prstGeom prst="rect">
            <a:avLst/>
          </a:prstGeom>
          <a:solidFill>
            <a:srgbClr val="1C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0456" y="4105656"/>
            <a:ext cx="32461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BC900"/>
                </a:solidFill>
                <a:latin typeface="Segoe UI"/>
              </a:rPr>
              <a:t>LA GARANTÍA, TAL COMO QUEDA EN EL CONTRATO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0456" y="4498848"/>
            <a:ext cx="3246120" cy="1554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FFFFFF"/>
                </a:solidFill>
                <a:latin typeface="Segoe UI"/>
              </a:rPr>
              <a:t>Si el estudiante cumple (asistencia del 80%, 90% de las tareas con video diario, todas las evaluaciones) y no avanza, </a:t>
            </a:r>
            <a:r>
              <a:rPr sz="1250" b="1" i="0">
                <a:solidFill>
                  <a:srgbClr val="FBC900"/>
                </a:solidFill>
                <a:latin typeface="Segoe UI"/>
              </a:rPr>
              <a:t>le devolvemos el 100% del nivel.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1">
                <a:solidFill>
                  <a:srgbClr val="FFF8E7"/>
                </a:solidFill>
                <a:latin typeface="Segoe UI"/>
              </a:rPr>
              <a:t>No prometemos que sea fácil ni rápido. Prometemos que funciona si hace su parte, y lo firmamos.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5A5A5A"/>
                </a:solidFill>
                <a:latin typeface="Segoe UI"/>
              </a:rPr>
              <a:t>Y a cada estudiante lo empujamos a pensar una idea de negocio propia y a contarla en inglés.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"/>
            <a:ext cx="822960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3 · OFERTA EDUCATIVA · VALOR ECONÓMICO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36576"/>
            <a:ext cx="23774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HEIIU ENGLISH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10515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E54C09"/>
                </a:solidFill>
                <a:latin typeface="Constantia"/>
              </a:rPr>
              <a:t>Lo que paga el afiliado con carta del fondo: beca del Fondo de Becas Heiiu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463040" cy="38000"/>
          </a:xfrm>
          <a:prstGeom prst="rect">
            <a:avLst/>
          </a:prstGeom>
          <a:solidFill>
            <a:srgbClr val="FBC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5760720" cy="530352"/>
          </a:xfrm>
          <a:prstGeom prst="rect">
            <a:avLst/>
          </a:prstGeom>
          <a:solidFill>
            <a:srgbClr val="E54C09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828800"/>
            <a:ext cx="5577840" cy="5303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Programa completo A1 a B2 (575 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828800"/>
            <a:ext cx="2194560" cy="530352"/>
          </a:xfrm>
          <a:prstGeom prst="rect">
            <a:avLst/>
          </a:prstGeom>
          <a:solidFill>
            <a:srgbClr val="E54C09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828800"/>
            <a:ext cx="2011680" cy="5303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Valor de lista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58200" y="1828800"/>
            <a:ext cx="3200400" cy="530352"/>
          </a:xfrm>
          <a:prstGeom prst="rect">
            <a:avLst/>
          </a:prstGeom>
          <a:solidFill>
            <a:srgbClr val="E54C09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1828800"/>
            <a:ext cx="3017520" cy="5303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Con carta del fondo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59152"/>
            <a:ext cx="57607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359152"/>
            <a:ext cx="5577840" cy="5303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222222"/>
                </a:solidFill>
                <a:latin typeface="Segoe UI"/>
              </a:rPr>
              <a:t>De contado (transferencia, tarjeta, cesantías o crédito del fondo o de una cooperativa)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359152"/>
            <a:ext cx="21945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359152"/>
            <a:ext cx="2011680" cy="5303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222222"/>
                </a:solidFill>
                <a:latin typeface="Segoe UI"/>
              </a:rPr>
              <a:t>$8.696.000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359152"/>
            <a:ext cx="3200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2359152"/>
            <a:ext cx="3017520" cy="5303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E54C09"/>
                </a:solidFill>
                <a:latin typeface="Segoe UI"/>
              </a:rPr>
              <a:t>$4.782.800  ·  beca del 45%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889504"/>
            <a:ext cx="5760720" cy="530352"/>
          </a:xfrm>
          <a:prstGeom prst="rect">
            <a:avLst/>
          </a:prstGeom>
          <a:solidFill>
            <a:srgbClr val="FFF8E7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889504"/>
            <a:ext cx="5577840" cy="5303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222222"/>
                </a:solidFill>
                <a:latin typeface="Segoe UI"/>
              </a:rPr>
              <a:t>A cuotas, con crédito directo de la academia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2889504"/>
            <a:ext cx="2194560" cy="530352"/>
          </a:xfrm>
          <a:prstGeom prst="rect">
            <a:avLst/>
          </a:prstGeom>
          <a:solidFill>
            <a:srgbClr val="FFF8E7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889504"/>
            <a:ext cx="2011680" cy="5303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222222"/>
                </a:solidFill>
                <a:latin typeface="Segoe UI"/>
              </a:rPr>
              <a:t>$8.696.000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58200" y="2889504"/>
            <a:ext cx="3200400" cy="530352"/>
          </a:xfrm>
          <a:prstGeom prst="rect">
            <a:avLst/>
          </a:prstGeom>
          <a:solidFill>
            <a:srgbClr val="FFF8E7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9640" y="2889504"/>
            <a:ext cx="3017520" cy="5303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E54C09"/>
                </a:solidFill>
                <a:latin typeface="Segoe UI"/>
              </a:rPr>
              <a:t>$5.565.440  ·  beca del 36%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419856"/>
            <a:ext cx="57607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419856"/>
            <a:ext cx="5577840" cy="5303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222222"/>
                </a:solidFill>
                <a:latin typeface="Segoe UI"/>
              </a:rPr>
              <a:t>Ejemplo a cuotas: inicial del 20% y 11 cuotas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3419856"/>
            <a:ext cx="21945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3419856"/>
            <a:ext cx="2011680" cy="5303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222222"/>
                </a:solidFill>
                <a:latin typeface="Segoe UI"/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8458200" y="3419856"/>
            <a:ext cx="3200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9640" y="3419856"/>
            <a:ext cx="3017520" cy="5303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E54C09"/>
                </a:solidFill>
                <a:latin typeface="Segoe UI"/>
              </a:rPr>
              <a:t>$1.113.088 hoy y 11 cuotas de $452.348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023360"/>
            <a:ext cx="111556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5A5A5A"/>
                </a:solidFill>
                <a:latin typeface="Segoe UI"/>
              </a:rPr>
              <a:t>Es beca del Fondo de Becas Heiiu, no un descuento: la misma tarifa y la misma garantía para todos los que entran con carta del fondo. El crédito del fondo cuenta como pago de contado, y da la beca de contado.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17720"/>
            <a:ext cx="54864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" y="4727448"/>
            <a:ext cx="5157216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E54C09"/>
                </a:solidFill>
                <a:latin typeface="Segoe UI"/>
              </a:rPr>
              <a:t>BECA CON EL NOMBRE DEL FONDO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120640"/>
            <a:ext cx="5157216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222222"/>
                </a:solidFill>
                <a:latin typeface="Segoe UI"/>
              </a:rPr>
              <a:t>Hasta 3 afiliados por trimestre, elegidos por el fondo, reciben el 45% aunque paguen a cuotas, más los libros del programa y prioridad de cupo. Si todos sus becados cumplen, el cupo sube a 5 el trimestre siguiente.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4617720"/>
            <a:ext cx="55321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0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36792" y="4727448"/>
            <a:ext cx="5202936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E54C09"/>
                </a:solidFill>
                <a:latin typeface="Segoe UI"/>
              </a:rPr>
              <a:t>SI EL FONDO PREFIERE PAGAR LOS CUPOS (PLAN EMPRESA)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36792" y="5120640"/>
            <a:ext cx="5202936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222222"/>
                </a:solidFill>
                <a:latin typeface="Segoe UI"/>
              </a:rPr>
              <a:t>$4.782.800 por cupo de 3 a 7 · $4.350.000 de 8 a 15 · $3.950.000 de 16 a 30. </a:t>
            </a:r>
            <a:r>
              <a:rPr sz="1200" b="0" i="0">
                <a:solidFill>
                  <a:srgbClr val="222222"/>
                </a:solidFill>
                <a:latin typeface="Segoe UI"/>
              </a:rPr>
              <a:t>De contado o con inicial y 3 cuotas. El fondo escoge a quién, y con 8 o más el horario es suyo.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5A5A5A"/>
                </a:solidFill>
                <a:latin typeface="Segoe UI"/>
              </a:rPr>
              <a:t>Valores vigentes 30 días desde la presentación. Todo pago entra directamente a la academia; el fondo no recibe ni gestiona pagos.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"/>
            <a:ext cx="822960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4 · BENEFICIOS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36576"/>
            <a:ext cx="23774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HEIIU ENGLISH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10515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E54C09"/>
                </a:solidFill>
                <a:latin typeface="Constantia"/>
              </a:rPr>
              <a:t>¿Qué gano yo? Lo que recibe el fondo y lo que recibe cada afiliado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463040" cy="38000"/>
          </a:xfrm>
          <a:prstGeom prst="rect">
            <a:avLst/>
          </a:prstGeom>
          <a:solidFill>
            <a:srgbClr val="FBC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5486400" cy="41148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530352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EL FONDO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548640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350" b="1" i="0">
                <a:solidFill>
                  <a:srgbClr val="222222"/>
                </a:solidFill>
                <a:latin typeface="Segoe UI"/>
              </a:rPr>
              <a:t>Un beneficio nuevo para sus afiliados, sin costo para el fondo. </a:t>
            </a:r>
            <a:r>
              <a:rPr sz="1350" b="0" i="0">
                <a:solidFill>
                  <a:srgbClr val="222222"/>
                </a:solidFill>
                <a:latin typeface="Segoe UI"/>
              </a:rPr>
              <a:t>El fondo postula, no paga ni cobra nada.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350" b="1" i="0">
                <a:solidFill>
                  <a:srgbClr val="222222"/>
                </a:solidFill>
                <a:latin typeface="Segoe UI"/>
              </a:rPr>
              <a:t>Becas con el nombre del fondo </a:t>
            </a:r>
            <a:r>
              <a:rPr sz="1350" b="0" i="0">
                <a:solidFill>
                  <a:srgbClr val="222222"/>
                </a:solidFill>
                <a:latin typeface="Segoe UI"/>
              </a:rPr>
              <a:t>y certificado a su nombre, entregado en su propio evento.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350" b="1" i="0">
                <a:solidFill>
                  <a:srgbClr val="222222"/>
                </a:solidFill>
                <a:latin typeface="Segoe UI"/>
              </a:rPr>
              <a:t>Reporte periódico </a:t>
            </a:r>
            <a:r>
              <a:rPr sz="1350" b="0" i="0">
                <a:solidFill>
                  <a:srgbClr val="222222"/>
                </a:solidFill>
                <a:latin typeface="Segoe UI"/>
              </a:rPr>
              <a:t>de asistencia y cumplimiento de cada becado: el fondo ve quién cumple.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350" b="1" i="0">
                <a:solidFill>
                  <a:srgbClr val="222222"/>
                </a:solidFill>
                <a:latin typeface="Segoe UI"/>
              </a:rPr>
              <a:t>Diagnóstico de nivel de inglés </a:t>
            </a:r>
            <a:r>
              <a:rPr sz="1350" b="0" i="0">
                <a:solidFill>
                  <a:srgbClr val="222222"/>
                </a:solidFill>
                <a:latin typeface="Segoe UI"/>
              </a:rPr>
              <a:t>para hasta 10 afiliados, sin costo.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350" b="1" i="0">
                <a:solidFill>
                  <a:srgbClr val="222222"/>
                </a:solidFill>
                <a:latin typeface="Segoe UI"/>
              </a:rPr>
              <a:t>Un afiliado que avanza se lo agradece al fondo. </a:t>
            </a:r>
            <a:r>
              <a:rPr sz="1350" b="0" i="0">
                <a:solidFill>
                  <a:srgbClr val="222222"/>
                </a:solidFill>
                <a:latin typeface="Segoe UI"/>
              </a:rPr>
              <a:t>Y lo que el fondo hace por su hijo, no lo olvida.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828800"/>
            <a:ext cx="5486400" cy="411480"/>
          </a:xfrm>
          <a:prstGeom prst="rect">
            <a:avLst/>
          </a:prstGeom>
          <a:solidFill>
            <a:srgbClr val="1C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828800"/>
            <a:ext cx="530352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FBC900"/>
                </a:solidFill>
                <a:latin typeface="Segoe UI"/>
              </a:rPr>
              <a:t>EL AFILIADO Y SU FAMILIA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31720"/>
            <a:ext cx="548640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350" b="1" i="0">
                <a:solidFill>
                  <a:srgbClr val="222222"/>
                </a:solidFill>
                <a:latin typeface="Segoe UI"/>
              </a:rPr>
              <a:t>Paga la mitad por ser afiliado: </a:t>
            </a:r>
            <a:r>
              <a:rPr sz="1350" b="0" i="0">
                <a:solidFill>
                  <a:srgbClr val="222222"/>
                </a:solidFill>
                <a:latin typeface="Segoe UI"/>
              </a:rPr>
              <a:t>beca del 45% sobre el programa completo, para él y para sus hijos.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350" b="1" i="0">
                <a:solidFill>
                  <a:srgbClr val="222222"/>
                </a:solidFill>
                <a:latin typeface="Segoe UI"/>
              </a:rPr>
              <a:t>Quien certifica su inglés gana cerca de un 26% más </a:t>
            </a:r>
            <a:r>
              <a:rPr sz="1350" b="0" i="0">
                <a:solidFill>
                  <a:srgbClr val="222222"/>
                </a:solidFill>
                <a:latin typeface="Segoe UI"/>
              </a:rPr>
              <a:t>que quien hace el mismo trabajo sin él.¹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350" b="1" i="0">
                <a:solidFill>
                  <a:srgbClr val="222222"/>
                </a:solidFill>
                <a:latin typeface="Segoe UI"/>
              </a:rPr>
              <a:t>Garantía por escrito: </a:t>
            </a:r>
            <a:r>
              <a:rPr sz="1350" b="0" i="0">
                <a:solidFill>
                  <a:srgbClr val="222222"/>
                </a:solidFill>
                <a:latin typeface="Segoe UI"/>
              </a:rPr>
              <a:t>si cumple su parte y no avanza, recibe el 100% del nivel de vuelta.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350" b="1" i="0">
                <a:solidFill>
                  <a:srgbClr val="222222"/>
                </a:solidFill>
                <a:latin typeface="Segoe UI"/>
              </a:rPr>
              <a:t>No entrena solo: </a:t>
            </a:r>
            <a:r>
              <a:rPr sz="1350" b="0" i="0">
                <a:solidFill>
                  <a:srgbClr val="222222"/>
                </a:solidFill>
                <a:latin typeface="Segoe UI"/>
              </a:rPr>
              <a:t>un profesor que corrige ahí mismo y un coach que no lo deja rendirse.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350" b="1" i="0">
                <a:solidFill>
                  <a:srgbClr val="222222"/>
                </a:solidFill>
                <a:latin typeface="Segoe UI"/>
              </a:rPr>
              <a:t>Sale con algo que mostrar: </a:t>
            </a:r>
            <a:r>
              <a:rPr sz="1350" b="0" i="0">
                <a:solidFill>
                  <a:srgbClr val="222222"/>
                </a:solidFill>
                <a:latin typeface="Segoe UI"/>
              </a:rPr>
              <a:t>el video del primer día junto al del último, y una idea de negocio propia contada en inglés.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1350" b="1" i="0">
                <a:solidFill>
                  <a:srgbClr val="222222"/>
                </a:solidFill>
                <a:latin typeface="Segoe UI"/>
              </a:rPr>
              <a:t>Para sus hijos que salen del colegio: </a:t>
            </a:r>
            <a:r>
              <a:rPr sz="1350" b="0" i="0">
                <a:solidFill>
                  <a:srgbClr val="222222"/>
                </a:solidFill>
                <a:latin typeface="Segoe UI"/>
              </a:rPr>
              <a:t>un año de inglés con disciplina abre la beca, el intercambio y la carrera que sí es. Solo 1 de cada 8 sale del colegio con un inglés que le sirva.²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5A5A5A"/>
                </a:solidFill>
                <a:latin typeface="Segoe UI"/>
              </a:rPr>
              <a:t>¹ DNP, Archivos de Economía, Bilingüismo laboral en Colombia. ² Pruebas Saber 11 de 2025, análisis del Observatorio de Realidades Educativas de la Universidad Icesi.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"/>
            <a:ext cx="822960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5 · LLAMADO A LA ACCIÓN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36576"/>
            <a:ext cx="23774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HEIIU ENGLISH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10515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onstantia"/>
              </a:rPr>
              <a:t>Firmemos el convenio esta semana y hablemos con sus afiliados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463040" cy="38000"/>
          </a:xfrm>
          <a:prstGeom prst="rect">
            <a:avLst/>
          </a:prstGeom>
          <a:solidFill>
            <a:srgbClr val="FBC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74519"/>
            <a:ext cx="1115568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 i="0">
                <a:solidFill>
                  <a:srgbClr val="FFF8E7"/>
                </a:solidFill>
                <a:latin typeface="Segoe UI"/>
              </a:rPr>
              <a:t>El convenio no tiene costo ni obligaciones económicas para el fondo. Se firma en una hoja, dura 12 meses, y lo único que le pedimos es 20 minutos con sus afiliados para contarles el programa y el Pacto antes de que decidan.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71800"/>
            <a:ext cx="3611880" cy="210312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108960"/>
            <a:ext cx="324612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Constantia"/>
              </a:rPr>
              <a:t>3 BECAS CON SU NOMBRE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703320"/>
            <a:ext cx="324612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egoe UI"/>
              </a:rPr>
              <a:t>Este trimestre, para los afiliados que el fondo elija. Si todos cumplen, suben a 5.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2971800"/>
            <a:ext cx="3611880" cy="210312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3108960"/>
            <a:ext cx="324612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Constantia"/>
              </a:rPr>
              <a:t>GRUPOS DE MÁXIMO 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3703320"/>
            <a:ext cx="324612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egoe UI"/>
              </a:rPr>
              <a:t>El cupo se asigna por orden de matrícula con la inicial pagada. Próximo inicio: martes 3 de noviembre de 2026.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7576" y="2971800"/>
            <a:ext cx="3611880" cy="210312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0456" y="3108960"/>
            <a:ext cx="324612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Constantia"/>
              </a:rPr>
              <a:t>10 PRUEBAS DE NIVEL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3703320"/>
            <a:ext cx="324612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egoe UI"/>
              </a:rPr>
              <a:t>Diagnóstico sin costo para hasta 10 afiliados, en su sede o en la nuestra, la semana siguiente a la firma.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303520"/>
            <a:ext cx="1115568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FBC900"/>
                </a:solidFill>
                <a:latin typeface="Segoe UI"/>
              </a:rPr>
              <a:t>Hoy: </a:t>
            </a:r>
            <a:r>
              <a:rPr sz="1500" b="0" i="0">
                <a:solidFill>
                  <a:srgbClr val="FFFFFF"/>
                </a:solidFill>
                <a:latin typeface="Segoe UI"/>
              </a:rPr>
              <a:t>firma del convenio y fecha de la charla con los afiliados.  </a:t>
            </a:r>
            <a:r>
              <a:rPr sz="1500" b="1" i="0">
                <a:solidFill>
                  <a:srgbClr val="FBC900"/>
                </a:solidFill>
                <a:latin typeface="Segoe UI"/>
              </a:rPr>
              <a:t>Esta semana: </a:t>
            </a:r>
            <a:r>
              <a:rPr sz="1500" b="0" i="0">
                <a:solidFill>
                  <a:srgbClr val="FFFFFF"/>
                </a:solidFill>
                <a:latin typeface="Segoe UI"/>
              </a:rPr>
              <a:t>diagnóstico de nivel.  </a:t>
            </a:r>
            <a:r>
              <a:rPr sz="1500" b="1" i="0">
                <a:solidFill>
                  <a:srgbClr val="FBC900"/>
                </a:solidFill>
                <a:latin typeface="Segoe UI"/>
              </a:rPr>
              <a:t>Antes del 3 de noviembre: </a:t>
            </a:r>
            <a:r>
              <a:rPr sz="1500" b="0" i="0">
                <a:solidFill>
                  <a:srgbClr val="FFFFFF"/>
                </a:solidFill>
                <a:latin typeface="Segoe UI"/>
              </a:rPr>
              <a:t>los primeros afiliados en su grupo.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C9B8A3"/>
                </a:solidFill>
                <a:latin typeface="Segoe UI"/>
              </a:rPr>
              <a:t>Línea de alianzas: 316 768 8793 · Carrera 27 # 48-49, Sotomayor, Bucaramanga · Instagram @Heiiu_english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2113854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783080"/>
            <a:ext cx="1115568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FFF8E7"/>
                </a:solidFill>
                <a:latin typeface="Segoe UI"/>
              </a:rPr>
              <a:t>Nuestro objetivo es que su afiliado salga hablando inglés. Si no se logra, algo está mal: o él dejó de entrenar, o nosotros no estamos cumpliendo. Por eso lo firmamos.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11155680" cy="1737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Constantia"/>
              </a:rPr>
              <a:t>¿Cuántos de sus afiliados quiere ver hablando inglés </a:t>
            </a:r>
            <a:r>
              <a:rPr sz="3800" b="1" i="1">
                <a:solidFill>
                  <a:srgbClr val="FBC900"/>
                </a:solidFill>
                <a:latin typeface="Constantia"/>
              </a:rPr>
              <a:t>el próximo año?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92040"/>
            <a:ext cx="111556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0" i="0">
                <a:solidFill>
                  <a:srgbClr val="FFF8E7"/>
                </a:solidFill>
                <a:latin typeface="Segoe UI"/>
              </a:rPr>
              <a:t>Dígame cuántos, y hoy mismo definimos a quiénes.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82296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Heiiu English Academy · Global Teacher S.A.S.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egoe UI"/>
              </a:rPr>
              <a:t>Línea de alianzas 316 768 8793 · Carrera 27 # 48-49, Sotomayor, Bucaramanga · @Heiiu_english</a:t>
            </a:r>
          </a:p>
        </p:txBody>
      </p:sp>
      <p:pic>
        <p:nvPicPr>
          <p:cNvPr id="9" name="Picture 8" descr="logo_heiiu_sobre_naranj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5715000"/>
            <a:ext cx="1788646" cy="1005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